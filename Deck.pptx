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8288000" cy="10287000"/>
  <p:notesSz cx="6858000" cy="9144000"/>
  <p:embeddedFontLst>
    <p:embeddedFont>
      <p:font typeface="Archivo Black" panose="020B0604020202020204" charset="0"/>
      <p:regular r:id="rId29"/>
    </p:embeddedFont>
    <p:embeddedFont>
      <p:font typeface="Barlow Condensed Bold" panose="020B0604020202020204" charset="0"/>
      <p:regular r:id="rId30"/>
    </p:embeddedFont>
    <p:embeddedFont>
      <p:font typeface="Barlow SemiCondensed Bold" panose="020B0604020202020204" charset="0"/>
      <p:regular r:id="rId31"/>
    </p:embeddedFon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Canva Sans 1" panose="020B0604020202020204" charset="0"/>
      <p:regular r:id="rId36"/>
    </p:embeddedFont>
    <p:embeddedFont>
      <p:font typeface="Canva Sans 1 Bold" panose="020B0604020202020204" charset="0"/>
      <p:regular r:id="rId37"/>
    </p:embeddedFont>
    <p:embeddedFont>
      <p:font typeface="Canva Sans 2 Bold" panose="020B0604020202020204" charset="0"/>
      <p:regular r:id="rId38"/>
    </p:embeddedFont>
    <p:embeddedFont>
      <p:font typeface="Cerebri Medium" panose="020B0604020202020204" charset="0"/>
      <p:regular r:id="rId39"/>
    </p:embeddedFont>
    <p:embeddedFont>
      <p:font typeface="Helvetica Now Bold" panose="020B0604020202020204" charset="0"/>
      <p:regular r:id="rId40"/>
    </p:embeddedFont>
    <p:embeddedFont>
      <p:font typeface="HK Grotesk" panose="020B0604020202020204" charset="0"/>
      <p:regular r:id="rId41"/>
    </p:embeddedFont>
    <p:embeddedFont>
      <p:font typeface="HK Grotesk Bold" panose="020B0604020202020204" charset="0"/>
      <p:regular r:id="rId42"/>
    </p:embeddedFont>
    <p:embeddedFont>
      <p:font typeface="HK Grotesk Medium" panose="020B0604020202020204" charset="0"/>
      <p:regular r:id="rId43"/>
    </p:embeddedFont>
    <p:embeddedFont>
      <p:font typeface="HK Grotesk Semi-Bold" panose="020B0604020202020204" charset="0"/>
      <p:regular r:id="rId44"/>
    </p:embeddedFont>
    <p:embeddedFont>
      <p:font typeface="Inter" panose="020B0604020202020204" charset="0"/>
      <p:regular r:id="rId45"/>
    </p:embeddedFont>
    <p:embeddedFont>
      <p:font typeface="Inter Semi-Bold" panose="020B0604020202020204" charset="0"/>
      <p:regular r:id="rId46"/>
    </p:embeddedFont>
    <p:embeddedFont>
      <p:font typeface="Kingsman" charset="0"/>
      <p:regular r:id="rId47"/>
    </p:embeddedFont>
    <p:embeddedFont>
      <p:font typeface="Lato" panose="020F0502020204030203" pitchFamily="34" charset="0"/>
      <p:regular r:id="rId48"/>
    </p:embeddedFont>
    <p:embeddedFont>
      <p:font typeface="Lato Bold" panose="020F0502020204030203" charset="0"/>
      <p:regular r:id="rId49"/>
    </p:embeddedFont>
    <p:embeddedFont>
      <p:font typeface="Lato Heavy" panose="020B0604020202020204" charset="0"/>
      <p:regular r:id="rId50"/>
    </p:embeddedFont>
    <p:embeddedFont>
      <p:font typeface="Marelle" panose="020B0604020202020204" charset="0"/>
      <p:regular r:id="rId51"/>
    </p:embeddedFont>
    <p:embeddedFont>
      <p:font typeface="Neue Montreal Bold" panose="020B0604020202020204" charset="0"/>
      <p:regular r:id="rId52"/>
    </p:embeddedFont>
    <p:embeddedFont>
      <p:font typeface="Noto Sans Bold" panose="020B0604020202020204" charset="0"/>
      <p:regular r:id="rId53"/>
    </p:embeddedFont>
    <p:embeddedFont>
      <p:font typeface="Playwrite US Trad" panose="020B0604020202020204" charset="0"/>
      <p:regular r:id="rId54"/>
    </p:embeddedFont>
    <p:embeddedFont>
      <p:font typeface="Red Hat Display" panose="020B0604020202020204" charset="0"/>
      <p:regular r:id="rId55"/>
    </p:embeddedFont>
    <p:embeddedFont>
      <p:font typeface="Red Hat Display Bold" panose="020B0604020202020204" charset="0"/>
      <p:regular r:id="rId5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51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openxmlformats.org/officeDocument/2006/relationships/font" Target="fonts/font19.fntdata"/><Relationship Id="rId50" Type="http://schemas.openxmlformats.org/officeDocument/2006/relationships/font" Target="fonts/font22.fntdata"/><Relationship Id="rId55" Type="http://schemas.openxmlformats.org/officeDocument/2006/relationships/font" Target="fonts/font2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font" Target="fonts/font17.fntdata"/><Relationship Id="rId53" Type="http://schemas.openxmlformats.org/officeDocument/2006/relationships/font" Target="fonts/font25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48" Type="http://schemas.openxmlformats.org/officeDocument/2006/relationships/font" Target="fonts/font20.fntdata"/><Relationship Id="rId56" Type="http://schemas.openxmlformats.org/officeDocument/2006/relationships/font" Target="fonts/font28.fntdata"/><Relationship Id="rId8" Type="http://schemas.openxmlformats.org/officeDocument/2006/relationships/slide" Target="slides/slide7.xml"/><Relationship Id="rId51" Type="http://schemas.openxmlformats.org/officeDocument/2006/relationships/font" Target="fonts/font2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font" Target="fonts/font18.fntdata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3.fntdata"/><Relationship Id="rId54" Type="http://schemas.openxmlformats.org/officeDocument/2006/relationships/font" Target="fonts/font2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8.fntdata"/><Relationship Id="rId49" Type="http://schemas.openxmlformats.org/officeDocument/2006/relationships/font" Target="fonts/font21.fntdata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52" Type="http://schemas.openxmlformats.org/officeDocument/2006/relationships/font" Target="fonts/font24.fntdata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0.png"/><Relationship Id="rId4" Type="http://schemas.openxmlformats.org/officeDocument/2006/relationships/image" Target="../media/image21.jpe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26" Type="http://schemas.openxmlformats.org/officeDocument/2006/relationships/image" Target="../media/image46.png"/><Relationship Id="rId21" Type="http://schemas.openxmlformats.org/officeDocument/2006/relationships/image" Target="../media/image41.png"/><Relationship Id="rId34" Type="http://schemas.openxmlformats.org/officeDocument/2006/relationships/image" Target="../media/image54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5" Type="http://schemas.openxmlformats.org/officeDocument/2006/relationships/image" Target="../media/image45.png"/><Relationship Id="rId33" Type="http://schemas.openxmlformats.org/officeDocument/2006/relationships/image" Target="../media/image53.png"/><Relationship Id="rId2" Type="http://schemas.openxmlformats.org/officeDocument/2006/relationships/image" Target="../media/image22.png"/><Relationship Id="rId16" Type="http://schemas.openxmlformats.org/officeDocument/2006/relationships/image" Target="../media/image36.png"/><Relationship Id="rId20" Type="http://schemas.openxmlformats.org/officeDocument/2006/relationships/image" Target="../media/image40.png"/><Relationship Id="rId29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24" Type="http://schemas.openxmlformats.org/officeDocument/2006/relationships/image" Target="../media/image44.png"/><Relationship Id="rId32" Type="http://schemas.openxmlformats.org/officeDocument/2006/relationships/image" Target="../media/image52.png"/><Relationship Id="rId37" Type="http://schemas.openxmlformats.org/officeDocument/2006/relationships/image" Target="../media/image56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23" Type="http://schemas.openxmlformats.org/officeDocument/2006/relationships/image" Target="../media/image43.png"/><Relationship Id="rId28" Type="http://schemas.openxmlformats.org/officeDocument/2006/relationships/image" Target="../media/image48.png"/><Relationship Id="rId36" Type="http://schemas.openxmlformats.org/officeDocument/2006/relationships/image" Target="../media/image55.png"/><Relationship Id="rId10" Type="http://schemas.openxmlformats.org/officeDocument/2006/relationships/image" Target="../media/image30.png"/><Relationship Id="rId19" Type="http://schemas.openxmlformats.org/officeDocument/2006/relationships/image" Target="../media/image39.png"/><Relationship Id="rId31" Type="http://schemas.openxmlformats.org/officeDocument/2006/relationships/image" Target="../media/image51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Relationship Id="rId22" Type="http://schemas.openxmlformats.org/officeDocument/2006/relationships/image" Target="../media/image42.png"/><Relationship Id="rId27" Type="http://schemas.openxmlformats.org/officeDocument/2006/relationships/image" Target="../media/image47.png"/><Relationship Id="rId30" Type="http://schemas.openxmlformats.org/officeDocument/2006/relationships/image" Target="../media/image50.png"/><Relationship Id="rId35" Type="http://schemas.openxmlformats.org/officeDocument/2006/relationships/image" Target="../media/image10.png"/><Relationship Id="rId8" Type="http://schemas.openxmlformats.org/officeDocument/2006/relationships/image" Target="../media/image28.png"/><Relationship Id="rId3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75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10.png"/><Relationship Id="rId4" Type="http://schemas.openxmlformats.org/officeDocument/2006/relationships/image" Target="../media/image76.jpeg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8.png"/><Relationship Id="rId18" Type="http://schemas.openxmlformats.org/officeDocument/2006/relationships/image" Target="../media/image93.png"/><Relationship Id="rId26" Type="http://schemas.openxmlformats.org/officeDocument/2006/relationships/image" Target="../media/image101.png"/><Relationship Id="rId3" Type="http://schemas.openxmlformats.org/officeDocument/2006/relationships/image" Target="../media/image78.png"/><Relationship Id="rId21" Type="http://schemas.openxmlformats.org/officeDocument/2006/relationships/image" Target="../media/image96.png"/><Relationship Id="rId34" Type="http://schemas.openxmlformats.org/officeDocument/2006/relationships/image" Target="../media/image10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17" Type="http://schemas.openxmlformats.org/officeDocument/2006/relationships/image" Target="../media/image92.png"/><Relationship Id="rId25" Type="http://schemas.openxmlformats.org/officeDocument/2006/relationships/image" Target="../media/image100.png"/><Relationship Id="rId33" Type="http://schemas.openxmlformats.org/officeDocument/2006/relationships/image" Target="../media/image108.png"/><Relationship Id="rId2" Type="http://schemas.openxmlformats.org/officeDocument/2006/relationships/image" Target="../media/image77.png"/><Relationship Id="rId16" Type="http://schemas.openxmlformats.org/officeDocument/2006/relationships/image" Target="../media/image91.png"/><Relationship Id="rId20" Type="http://schemas.openxmlformats.org/officeDocument/2006/relationships/image" Target="../media/image95.png"/><Relationship Id="rId29" Type="http://schemas.openxmlformats.org/officeDocument/2006/relationships/image" Target="../media/image10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24" Type="http://schemas.openxmlformats.org/officeDocument/2006/relationships/image" Target="../media/image99.png"/><Relationship Id="rId32" Type="http://schemas.openxmlformats.org/officeDocument/2006/relationships/image" Target="../media/image107.png"/><Relationship Id="rId5" Type="http://schemas.openxmlformats.org/officeDocument/2006/relationships/image" Target="../media/image80.png"/><Relationship Id="rId15" Type="http://schemas.openxmlformats.org/officeDocument/2006/relationships/image" Target="../media/image90.png"/><Relationship Id="rId23" Type="http://schemas.openxmlformats.org/officeDocument/2006/relationships/image" Target="../media/image98.png"/><Relationship Id="rId28" Type="http://schemas.openxmlformats.org/officeDocument/2006/relationships/image" Target="../media/image103.png"/><Relationship Id="rId10" Type="http://schemas.openxmlformats.org/officeDocument/2006/relationships/image" Target="../media/image85.png"/><Relationship Id="rId19" Type="http://schemas.openxmlformats.org/officeDocument/2006/relationships/image" Target="../media/image94.png"/><Relationship Id="rId31" Type="http://schemas.openxmlformats.org/officeDocument/2006/relationships/image" Target="../media/image106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Relationship Id="rId22" Type="http://schemas.openxmlformats.org/officeDocument/2006/relationships/image" Target="../media/image97.png"/><Relationship Id="rId27" Type="http://schemas.openxmlformats.org/officeDocument/2006/relationships/image" Target="../media/image102.png"/><Relationship Id="rId30" Type="http://schemas.openxmlformats.org/officeDocument/2006/relationships/image" Target="../media/image105.png"/><Relationship Id="rId8" Type="http://schemas.openxmlformats.org/officeDocument/2006/relationships/image" Target="../media/image8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20.png"/><Relationship Id="rId18" Type="http://schemas.openxmlformats.org/officeDocument/2006/relationships/image" Target="../media/image125.png"/><Relationship Id="rId26" Type="http://schemas.openxmlformats.org/officeDocument/2006/relationships/image" Target="../media/image133.png"/><Relationship Id="rId3" Type="http://schemas.openxmlformats.org/officeDocument/2006/relationships/image" Target="../media/image110.png"/><Relationship Id="rId21" Type="http://schemas.openxmlformats.org/officeDocument/2006/relationships/image" Target="../media/image128.png"/><Relationship Id="rId7" Type="http://schemas.openxmlformats.org/officeDocument/2006/relationships/image" Target="../media/image114.png"/><Relationship Id="rId12" Type="http://schemas.openxmlformats.org/officeDocument/2006/relationships/image" Target="../media/image119.png"/><Relationship Id="rId17" Type="http://schemas.openxmlformats.org/officeDocument/2006/relationships/image" Target="../media/image124.png"/><Relationship Id="rId25" Type="http://schemas.openxmlformats.org/officeDocument/2006/relationships/image" Target="../media/image132.png"/><Relationship Id="rId2" Type="http://schemas.openxmlformats.org/officeDocument/2006/relationships/image" Target="../media/image109.png"/><Relationship Id="rId16" Type="http://schemas.openxmlformats.org/officeDocument/2006/relationships/image" Target="../media/image123.png"/><Relationship Id="rId20" Type="http://schemas.openxmlformats.org/officeDocument/2006/relationships/image" Target="../media/image127.png"/><Relationship Id="rId29" Type="http://schemas.openxmlformats.org/officeDocument/2006/relationships/image" Target="../media/image1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3.png"/><Relationship Id="rId11" Type="http://schemas.openxmlformats.org/officeDocument/2006/relationships/image" Target="../media/image118.png"/><Relationship Id="rId24" Type="http://schemas.openxmlformats.org/officeDocument/2006/relationships/image" Target="../media/image131.png"/><Relationship Id="rId5" Type="http://schemas.openxmlformats.org/officeDocument/2006/relationships/image" Target="../media/image112.png"/><Relationship Id="rId15" Type="http://schemas.openxmlformats.org/officeDocument/2006/relationships/image" Target="../media/image122.png"/><Relationship Id="rId23" Type="http://schemas.openxmlformats.org/officeDocument/2006/relationships/image" Target="../media/image130.png"/><Relationship Id="rId28" Type="http://schemas.openxmlformats.org/officeDocument/2006/relationships/image" Target="../media/image135.png"/><Relationship Id="rId10" Type="http://schemas.openxmlformats.org/officeDocument/2006/relationships/image" Target="../media/image117.png"/><Relationship Id="rId19" Type="http://schemas.openxmlformats.org/officeDocument/2006/relationships/image" Target="../media/image126.png"/><Relationship Id="rId31" Type="http://schemas.openxmlformats.org/officeDocument/2006/relationships/image" Target="../media/image137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Relationship Id="rId14" Type="http://schemas.openxmlformats.org/officeDocument/2006/relationships/image" Target="../media/image121.png"/><Relationship Id="rId22" Type="http://schemas.openxmlformats.org/officeDocument/2006/relationships/image" Target="../media/image129.png"/><Relationship Id="rId27" Type="http://schemas.openxmlformats.org/officeDocument/2006/relationships/image" Target="../media/image134.png"/><Relationship Id="rId30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9.png"/><Relationship Id="rId18" Type="http://schemas.openxmlformats.org/officeDocument/2006/relationships/image" Target="../media/image154.png"/><Relationship Id="rId26" Type="http://schemas.openxmlformats.org/officeDocument/2006/relationships/image" Target="../media/image162.png"/><Relationship Id="rId39" Type="http://schemas.openxmlformats.org/officeDocument/2006/relationships/image" Target="../media/image175.png"/><Relationship Id="rId21" Type="http://schemas.openxmlformats.org/officeDocument/2006/relationships/image" Target="../media/image157.png"/><Relationship Id="rId34" Type="http://schemas.openxmlformats.org/officeDocument/2006/relationships/image" Target="../media/image170.png"/><Relationship Id="rId42" Type="http://schemas.openxmlformats.org/officeDocument/2006/relationships/image" Target="../media/image178.png"/><Relationship Id="rId47" Type="http://schemas.openxmlformats.org/officeDocument/2006/relationships/image" Target="../media/image183.png"/><Relationship Id="rId50" Type="http://schemas.openxmlformats.org/officeDocument/2006/relationships/image" Target="../media/image186.png"/><Relationship Id="rId7" Type="http://schemas.openxmlformats.org/officeDocument/2006/relationships/image" Target="../media/image143.png"/><Relationship Id="rId2" Type="http://schemas.openxmlformats.org/officeDocument/2006/relationships/image" Target="../media/image138.png"/><Relationship Id="rId16" Type="http://schemas.openxmlformats.org/officeDocument/2006/relationships/image" Target="../media/image152.png"/><Relationship Id="rId29" Type="http://schemas.openxmlformats.org/officeDocument/2006/relationships/image" Target="../media/image165.png"/><Relationship Id="rId11" Type="http://schemas.openxmlformats.org/officeDocument/2006/relationships/image" Target="../media/image147.png"/><Relationship Id="rId24" Type="http://schemas.openxmlformats.org/officeDocument/2006/relationships/image" Target="../media/image160.png"/><Relationship Id="rId32" Type="http://schemas.openxmlformats.org/officeDocument/2006/relationships/image" Target="../media/image168.png"/><Relationship Id="rId37" Type="http://schemas.openxmlformats.org/officeDocument/2006/relationships/image" Target="../media/image173.png"/><Relationship Id="rId40" Type="http://schemas.openxmlformats.org/officeDocument/2006/relationships/image" Target="../media/image176.png"/><Relationship Id="rId45" Type="http://schemas.openxmlformats.org/officeDocument/2006/relationships/image" Target="../media/image181.png"/><Relationship Id="rId5" Type="http://schemas.openxmlformats.org/officeDocument/2006/relationships/image" Target="../media/image141.png"/><Relationship Id="rId15" Type="http://schemas.openxmlformats.org/officeDocument/2006/relationships/image" Target="../media/image151.png"/><Relationship Id="rId23" Type="http://schemas.openxmlformats.org/officeDocument/2006/relationships/image" Target="../media/image159.png"/><Relationship Id="rId28" Type="http://schemas.openxmlformats.org/officeDocument/2006/relationships/image" Target="../media/image164.png"/><Relationship Id="rId36" Type="http://schemas.openxmlformats.org/officeDocument/2006/relationships/image" Target="../media/image172.png"/><Relationship Id="rId49" Type="http://schemas.openxmlformats.org/officeDocument/2006/relationships/image" Target="../media/image185.png"/><Relationship Id="rId10" Type="http://schemas.openxmlformats.org/officeDocument/2006/relationships/image" Target="../media/image146.png"/><Relationship Id="rId19" Type="http://schemas.openxmlformats.org/officeDocument/2006/relationships/image" Target="../media/image155.png"/><Relationship Id="rId31" Type="http://schemas.openxmlformats.org/officeDocument/2006/relationships/image" Target="../media/image167.png"/><Relationship Id="rId44" Type="http://schemas.openxmlformats.org/officeDocument/2006/relationships/image" Target="../media/image180.png"/><Relationship Id="rId52" Type="http://schemas.openxmlformats.org/officeDocument/2006/relationships/image" Target="../media/image10.png"/><Relationship Id="rId4" Type="http://schemas.openxmlformats.org/officeDocument/2006/relationships/image" Target="../media/image140.png"/><Relationship Id="rId9" Type="http://schemas.openxmlformats.org/officeDocument/2006/relationships/image" Target="../media/image145.png"/><Relationship Id="rId14" Type="http://schemas.openxmlformats.org/officeDocument/2006/relationships/image" Target="../media/image150.png"/><Relationship Id="rId22" Type="http://schemas.openxmlformats.org/officeDocument/2006/relationships/image" Target="../media/image158.png"/><Relationship Id="rId27" Type="http://schemas.openxmlformats.org/officeDocument/2006/relationships/image" Target="../media/image163.png"/><Relationship Id="rId30" Type="http://schemas.openxmlformats.org/officeDocument/2006/relationships/image" Target="../media/image166.png"/><Relationship Id="rId35" Type="http://schemas.openxmlformats.org/officeDocument/2006/relationships/image" Target="../media/image171.png"/><Relationship Id="rId43" Type="http://schemas.openxmlformats.org/officeDocument/2006/relationships/image" Target="../media/image179.png"/><Relationship Id="rId48" Type="http://schemas.openxmlformats.org/officeDocument/2006/relationships/image" Target="../media/image184.png"/><Relationship Id="rId8" Type="http://schemas.openxmlformats.org/officeDocument/2006/relationships/image" Target="../media/image144.png"/><Relationship Id="rId51" Type="http://schemas.openxmlformats.org/officeDocument/2006/relationships/image" Target="../media/image187.png"/><Relationship Id="rId3" Type="http://schemas.openxmlformats.org/officeDocument/2006/relationships/image" Target="../media/image139.png"/><Relationship Id="rId12" Type="http://schemas.openxmlformats.org/officeDocument/2006/relationships/image" Target="../media/image148.png"/><Relationship Id="rId17" Type="http://schemas.openxmlformats.org/officeDocument/2006/relationships/image" Target="../media/image153.png"/><Relationship Id="rId25" Type="http://schemas.openxmlformats.org/officeDocument/2006/relationships/image" Target="../media/image161.png"/><Relationship Id="rId33" Type="http://schemas.openxmlformats.org/officeDocument/2006/relationships/image" Target="../media/image169.png"/><Relationship Id="rId38" Type="http://schemas.openxmlformats.org/officeDocument/2006/relationships/image" Target="../media/image174.png"/><Relationship Id="rId46" Type="http://schemas.openxmlformats.org/officeDocument/2006/relationships/image" Target="../media/image182.png"/><Relationship Id="rId20" Type="http://schemas.openxmlformats.org/officeDocument/2006/relationships/image" Target="../media/image156.png"/><Relationship Id="rId41" Type="http://schemas.openxmlformats.org/officeDocument/2006/relationships/image" Target="../media/image1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png"/><Relationship Id="rId13" Type="http://schemas.openxmlformats.org/officeDocument/2006/relationships/image" Target="../media/image199.png"/><Relationship Id="rId18" Type="http://schemas.openxmlformats.org/officeDocument/2006/relationships/image" Target="../media/image204.png"/><Relationship Id="rId3" Type="http://schemas.openxmlformats.org/officeDocument/2006/relationships/image" Target="../media/image189.png"/><Relationship Id="rId21" Type="http://schemas.openxmlformats.org/officeDocument/2006/relationships/image" Target="../media/image207.png"/><Relationship Id="rId7" Type="http://schemas.openxmlformats.org/officeDocument/2006/relationships/image" Target="../media/image193.png"/><Relationship Id="rId12" Type="http://schemas.openxmlformats.org/officeDocument/2006/relationships/image" Target="../media/image198.png"/><Relationship Id="rId17" Type="http://schemas.openxmlformats.org/officeDocument/2006/relationships/image" Target="../media/image203.png"/><Relationship Id="rId2" Type="http://schemas.openxmlformats.org/officeDocument/2006/relationships/image" Target="../media/image188.png"/><Relationship Id="rId16" Type="http://schemas.openxmlformats.org/officeDocument/2006/relationships/image" Target="../media/image202.png"/><Relationship Id="rId20" Type="http://schemas.openxmlformats.org/officeDocument/2006/relationships/image" Target="../media/image20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2.png"/><Relationship Id="rId11" Type="http://schemas.openxmlformats.org/officeDocument/2006/relationships/image" Target="../media/image197.png"/><Relationship Id="rId5" Type="http://schemas.openxmlformats.org/officeDocument/2006/relationships/image" Target="../media/image191.png"/><Relationship Id="rId15" Type="http://schemas.openxmlformats.org/officeDocument/2006/relationships/image" Target="../media/image201.png"/><Relationship Id="rId23" Type="http://schemas.openxmlformats.org/officeDocument/2006/relationships/image" Target="../media/image10.png"/><Relationship Id="rId10" Type="http://schemas.openxmlformats.org/officeDocument/2006/relationships/image" Target="../media/image196.png"/><Relationship Id="rId19" Type="http://schemas.openxmlformats.org/officeDocument/2006/relationships/image" Target="../media/image205.png"/><Relationship Id="rId4" Type="http://schemas.openxmlformats.org/officeDocument/2006/relationships/image" Target="../media/image190.png"/><Relationship Id="rId9" Type="http://schemas.openxmlformats.org/officeDocument/2006/relationships/image" Target="../media/image195.png"/><Relationship Id="rId14" Type="http://schemas.openxmlformats.org/officeDocument/2006/relationships/image" Target="../media/image200.png"/><Relationship Id="rId22" Type="http://schemas.openxmlformats.org/officeDocument/2006/relationships/image" Target="../media/image20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png"/><Relationship Id="rId3" Type="http://schemas.openxmlformats.org/officeDocument/2006/relationships/image" Target="../media/image192.png"/><Relationship Id="rId7" Type="http://schemas.openxmlformats.org/officeDocument/2006/relationships/image" Target="../media/image211.svg"/><Relationship Id="rId12" Type="http://schemas.openxmlformats.org/officeDocument/2006/relationships/image" Target="../media/image216.png"/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0.png"/><Relationship Id="rId11" Type="http://schemas.openxmlformats.org/officeDocument/2006/relationships/image" Target="../media/image215.svg"/><Relationship Id="rId5" Type="http://schemas.openxmlformats.org/officeDocument/2006/relationships/image" Target="../media/image209.png"/><Relationship Id="rId10" Type="http://schemas.openxmlformats.org/officeDocument/2006/relationships/image" Target="../media/image214.png"/><Relationship Id="rId4" Type="http://schemas.openxmlformats.org/officeDocument/2006/relationships/image" Target="../media/image10.png"/><Relationship Id="rId9" Type="http://schemas.openxmlformats.org/officeDocument/2006/relationships/image" Target="../media/image2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673236" y="2177116"/>
            <a:ext cx="8968117" cy="6404915"/>
          </a:xfrm>
          <a:custGeom>
            <a:avLst/>
            <a:gdLst/>
            <a:ahLst/>
            <a:cxnLst/>
            <a:rect l="l" t="t" r="r" b="b"/>
            <a:pathLst>
              <a:path w="8968117" h="6404915">
                <a:moveTo>
                  <a:pt x="0" y="0"/>
                </a:moveTo>
                <a:lnTo>
                  <a:pt x="8968117" y="0"/>
                </a:lnTo>
                <a:lnTo>
                  <a:pt x="8968117" y="6404914"/>
                </a:lnTo>
                <a:lnTo>
                  <a:pt x="0" y="6404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026311" y="5114907"/>
            <a:ext cx="714978" cy="529332"/>
          </a:xfrm>
          <a:custGeom>
            <a:avLst/>
            <a:gdLst/>
            <a:ahLst/>
            <a:cxnLst/>
            <a:rect l="l" t="t" r="r" b="b"/>
            <a:pathLst>
              <a:path w="714978" h="529332">
                <a:moveTo>
                  <a:pt x="0" y="0"/>
                </a:moveTo>
                <a:lnTo>
                  <a:pt x="714978" y="0"/>
                </a:lnTo>
                <a:lnTo>
                  <a:pt x="714978" y="529332"/>
                </a:lnTo>
                <a:lnTo>
                  <a:pt x="0" y="5293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775176" y="3906266"/>
            <a:ext cx="529613" cy="696954"/>
          </a:xfrm>
          <a:custGeom>
            <a:avLst/>
            <a:gdLst/>
            <a:ahLst/>
            <a:cxnLst/>
            <a:rect l="l" t="t" r="r" b="b"/>
            <a:pathLst>
              <a:path w="529613" h="696954">
                <a:moveTo>
                  <a:pt x="0" y="0"/>
                </a:moveTo>
                <a:lnTo>
                  <a:pt x="529613" y="0"/>
                </a:lnTo>
                <a:lnTo>
                  <a:pt x="529613" y="696954"/>
                </a:lnTo>
                <a:lnTo>
                  <a:pt x="0" y="6969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775176" y="5635417"/>
            <a:ext cx="529613" cy="696954"/>
          </a:xfrm>
          <a:custGeom>
            <a:avLst/>
            <a:gdLst/>
            <a:ahLst/>
            <a:cxnLst/>
            <a:rect l="l" t="t" r="r" b="b"/>
            <a:pathLst>
              <a:path w="529613" h="696954">
                <a:moveTo>
                  <a:pt x="0" y="0"/>
                </a:moveTo>
                <a:lnTo>
                  <a:pt x="529613" y="0"/>
                </a:lnTo>
                <a:lnTo>
                  <a:pt x="529613" y="696953"/>
                </a:lnTo>
                <a:lnTo>
                  <a:pt x="0" y="6969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775176" y="7532189"/>
            <a:ext cx="529613" cy="529332"/>
          </a:xfrm>
          <a:custGeom>
            <a:avLst/>
            <a:gdLst/>
            <a:ahLst/>
            <a:cxnLst/>
            <a:rect l="l" t="t" r="r" b="b"/>
            <a:pathLst>
              <a:path w="529613" h="529332">
                <a:moveTo>
                  <a:pt x="0" y="0"/>
                </a:moveTo>
                <a:lnTo>
                  <a:pt x="529613" y="0"/>
                </a:lnTo>
                <a:lnTo>
                  <a:pt x="529613" y="529332"/>
                </a:lnTo>
                <a:lnTo>
                  <a:pt x="0" y="529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582126" y="5635417"/>
            <a:ext cx="538440" cy="520510"/>
          </a:xfrm>
          <a:custGeom>
            <a:avLst/>
            <a:gdLst/>
            <a:ahLst/>
            <a:cxnLst/>
            <a:rect l="l" t="t" r="r" b="b"/>
            <a:pathLst>
              <a:path w="538440" h="520510">
                <a:moveTo>
                  <a:pt x="0" y="0"/>
                </a:moveTo>
                <a:lnTo>
                  <a:pt x="538440" y="0"/>
                </a:lnTo>
                <a:lnTo>
                  <a:pt x="538440" y="520509"/>
                </a:lnTo>
                <a:lnTo>
                  <a:pt x="0" y="52050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88900" y="1289722"/>
            <a:ext cx="8355100" cy="2004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7"/>
              </a:lnSpc>
            </a:pPr>
            <a:r>
              <a:rPr lang="en-US" sz="7699" spc="-69">
                <a:solidFill>
                  <a:srgbClr val="111111"/>
                </a:solidFill>
                <a:latin typeface="Archivo Black"/>
                <a:ea typeface="Archivo Black"/>
                <a:cs typeface="Archivo Black"/>
                <a:sym typeface="Archivo Black"/>
              </a:rPr>
              <a:t>SUPPLY LINK</a:t>
            </a:r>
          </a:p>
          <a:p>
            <a:pPr algn="l">
              <a:lnSpc>
                <a:spcPts val="4927"/>
              </a:lnSpc>
            </a:pPr>
            <a:endParaRPr lang="en-US" sz="7699" spc="-69">
              <a:solidFill>
                <a:srgbClr val="111111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algn="l">
              <a:lnSpc>
                <a:spcPts val="4927"/>
              </a:lnSpc>
            </a:pPr>
            <a:r>
              <a:rPr lang="en-US" sz="7699" spc="-75">
                <a:solidFill>
                  <a:srgbClr val="111111"/>
                </a:solidFill>
                <a:latin typeface="Archivo Black"/>
                <a:ea typeface="Archivo Black"/>
                <a:cs typeface="Archivo Black"/>
                <a:sym typeface="Archivo Black"/>
              </a:rPr>
              <a:t>OCEAN PRIDE</a:t>
            </a:r>
          </a:p>
        </p:txBody>
      </p:sp>
      <p:sp>
        <p:nvSpPr>
          <p:cNvPr id="9" name="Freeform 9"/>
          <p:cNvSpPr/>
          <p:nvPr/>
        </p:nvSpPr>
        <p:spPr>
          <a:xfrm>
            <a:off x="0" y="8724905"/>
            <a:ext cx="11112804" cy="1562095"/>
          </a:xfrm>
          <a:custGeom>
            <a:avLst/>
            <a:gdLst/>
            <a:ahLst/>
            <a:cxnLst/>
            <a:rect l="l" t="t" r="r" b="b"/>
            <a:pathLst>
              <a:path w="11112804" h="1562095">
                <a:moveTo>
                  <a:pt x="0" y="0"/>
                </a:moveTo>
                <a:lnTo>
                  <a:pt x="11112804" y="0"/>
                </a:lnTo>
                <a:lnTo>
                  <a:pt x="11112804" y="1562095"/>
                </a:lnTo>
                <a:lnTo>
                  <a:pt x="0" y="15620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23869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788900" y="4901082"/>
            <a:ext cx="6207315" cy="2631107"/>
            <a:chOff x="0" y="0"/>
            <a:chExt cx="8276419" cy="350814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97256" cy="1584693"/>
            </a:xfrm>
            <a:custGeom>
              <a:avLst/>
              <a:gdLst/>
              <a:ahLst/>
              <a:cxnLst/>
              <a:rect l="l" t="t" r="r" b="b"/>
              <a:pathLst>
                <a:path w="1297256" h="1584693">
                  <a:moveTo>
                    <a:pt x="0" y="0"/>
                  </a:moveTo>
                  <a:lnTo>
                    <a:pt x="1297256" y="0"/>
                  </a:lnTo>
                  <a:lnTo>
                    <a:pt x="1297256" y="1584693"/>
                  </a:lnTo>
                  <a:lnTo>
                    <a:pt x="0" y="1584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1578433" y="291231"/>
              <a:ext cx="6697986" cy="10212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51"/>
                </a:lnSpc>
              </a:pPr>
              <a:r>
                <a:rPr lang="en-US" sz="2774" b="1">
                  <a:solidFill>
                    <a:srgbClr val="000000"/>
                  </a:solidFill>
                  <a:latin typeface="Helvetica Now Bold"/>
                  <a:ea typeface="Helvetica Now Bold"/>
                  <a:cs typeface="Helvetica Now Bold"/>
                  <a:sym typeface="Helvetica Now Bold"/>
                </a:rPr>
                <a:t>The real operational gap</a:t>
              </a:r>
            </a:p>
            <a:p>
              <a:pPr algn="l">
                <a:lnSpc>
                  <a:spcPts val="3051"/>
                </a:lnSpc>
              </a:pPr>
              <a:r>
                <a:rPr lang="en-US" sz="2774" b="1">
                  <a:solidFill>
                    <a:srgbClr val="000000"/>
                  </a:solidFill>
                  <a:latin typeface="Helvetica Now Bold"/>
                  <a:ea typeface="Helvetica Now Bold"/>
                  <a:cs typeface="Helvetica Now Bold"/>
                  <a:sym typeface="Helvetica Now Bold"/>
                </a:rPr>
                <a:t>isn’t the truck breaking down.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1815012"/>
              <a:ext cx="1297256" cy="1584693"/>
            </a:xfrm>
            <a:custGeom>
              <a:avLst/>
              <a:gdLst/>
              <a:ahLst/>
              <a:cxnLst/>
              <a:rect l="l" t="t" r="r" b="b"/>
              <a:pathLst>
                <a:path w="1297256" h="1584693">
                  <a:moveTo>
                    <a:pt x="0" y="0"/>
                  </a:moveTo>
                  <a:lnTo>
                    <a:pt x="1297256" y="0"/>
                  </a:lnTo>
                  <a:lnTo>
                    <a:pt x="1297256" y="1584693"/>
                  </a:lnTo>
                  <a:lnTo>
                    <a:pt x="0" y="1584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1578433" y="1990269"/>
              <a:ext cx="6553423" cy="15178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51"/>
                </a:lnSpc>
              </a:pPr>
              <a:r>
                <a:rPr lang="en-US" sz="2774" b="1">
                  <a:solidFill>
                    <a:srgbClr val="000000"/>
                  </a:solidFill>
                  <a:latin typeface="Helvetica Now Bold"/>
                  <a:ea typeface="Helvetica Now Bold"/>
                  <a:cs typeface="Helvetica Now Bold"/>
                  <a:sym typeface="Helvetica Now Bold"/>
                </a:rPr>
                <a:t>It’s the slow, manual process of finding replacement stock across separate branches.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16892347" y="481944"/>
            <a:ext cx="984413" cy="1004922"/>
          </a:xfrm>
          <a:custGeom>
            <a:avLst/>
            <a:gdLst/>
            <a:ahLst/>
            <a:cxnLst/>
            <a:rect l="l" t="t" r="r" b="b"/>
            <a:pathLst>
              <a:path w="984413" h="1004922">
                <a:moveTo>
                  <a:pt x="0" y="0"/>
                </a:moveTo>
                <a:lnTo>
                  <a:pt x="984413" y="0"/>
                </a:lnTo>
                <a:lnTo>
                  <a:pt x="984413" y="1004922"/>
                </a:lnTo>
                <a:lnTo>
                  <a:pt x="0" y="1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8406610" y="1023022"/>
            <a:ext cx="1992480" cy="974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38"/>
              </a:lnSpc>
            </a:pPr>
            <a:r>
              <a:rPr lang="en-US" sz="6946" b="1">
                <a:solidFill>
                  <a:srgbClr val="0F203C"/>
                </a:solidFill>
                <a:latin typeface="Helvetica Now Bold"/>
                <a:ea typeface="Helvetica Now Bold"/>
                <a:cs typeface="Helvetica Now Bold"/>
                <a:sym typeface="Helvetica Now Bold"/>
              </a:rPr>
              <a:t>by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564513" y="9502775"/>
            <a:ext cx="175675" cy="449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837583" y="9137632"/>
            <a:ext cx="3534742" cy="422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Marelle"/>
                <a:ea typeface="Marelle"/>
                <a:cs typeface="Marelle"/>
                <a:sym typeface="Marelle"/>
              </a:rPr>
              <a:t>AI11 AquaMind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474606" y="4219651"/>
            <a:ext cx="1190250" cy="119025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t="-25000" b="-2500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6593750" y="2423928"/>
            <a:ext cx="5298619" cy="1120354"/>
            <a:chOff x="0" y="0"/>
            <a:chExt cx="7064826" cy="149380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064826" cy="1493805"/>
            </a:xfrm>
            <a:custGeom>
              <a:avLst/>
              <a:gdLst/>
              <a:ahLst/>
              <a:cxnLst/>
              <a:rect l="l" t="t" r="r" b="b"/>
              <a:pathLst>
                <a:path w="7064826" h="1493805">
                  <a:moveTo>
                    <a:pt x="0" y="0"/>
                  </a:moveTo>
                  <a:lnTo>
                    <a:pt x="7064826" y="0"/>
                  </a:lnTo>
                  <a:lnTo>
                    <a:pt x="7064826" y="1493805"/>
                  </a:lnTo>
                  <a:lnTo>
                    <a:pt x="0" y="14938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215" r="-1043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708986" y="461802"/>
              <a:ext cx="5784561" cy="6368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24"/>
                </a:lnSpc>
              </a:pPr>
              <a:r>
                <a:rPr lang="en-US" sz="3524" b="1">
                  <a:solidFill>
                    <a:srgbClr val="FFFFFF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Team Members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596999" y="4268685"/>
            <a:ext cx="1141216" cy="114121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588365" y="7752999"/>
            <a:ext cx="1141095" cy="114109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7474606" y="6010902"/>
            <a:ext cx="1141095" cy="1141095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3498" r="-3498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4453778" y="4481587"/>
            <a:ext cx="2431875" cy="2431875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11532" t="-11532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7474606" y="7752999"/>
            <a:ext cx="1131722" cy="1131722"/>
            <a:chOff x="0" y="0"/>
            <a:chExt cx="1502906" cy="150290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02906" cy="1502906"/>
            </a:xfrm>
            <a:custGeom>
              <a:avLst/>
              <a:gdLst/>
              <a:ahLst/>
              <a:cxnLst/>
              <a:rect l="l" t="t" r="r" b="b"/>
              <a:pathLst>
                <a:path w="1502906" h="1502906">
                  <a:moveTo>
                    <a:pt x="751453" y="0"/>
                  </a:moveTo>
                  <a:cubicBezTo>
                    <a:pt x="336437" y="0"/>
                    <a:pt x="0" y="336437"/>
                    <a:pt x="0" y="751453"/>
                  </a:cubicBezTo>
                  <a:cubicBezTo>
                    <a:pt x="0" y="1166469"/>
                    <a:pt x="336437" y="1502906"/>
                    <a:pt x="751453" y="1502906"/>
                  </a:cubicBezTo>
                  <a:cubicBezTo>
                    <a:pt x="1166469" y="1502906"/>
                    <a:pt x="1502906" y="1166469"/>
                    <a:pt x="1502906" y="751453"/>
                  </a:cubicBezTo>
                  <a:cubicBezTo>
                    <a:pt x="1502906" y="336437"/>
                    <a:pt x="1166469" y="0"/>
                    <a:pt x="751453" y="0"/>
                  </a:cubicBez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2589193" y="5977044"/>
            <a:ext cx="1156829" cy="1156829"/>
            <a:chOff x="0" y="0"/>
            <a:chExt cx="1519366" cy="151936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19366" cy="1519366"/>
            </a:xfrm>
            <a:custGeom>
              <a:avLst/>
              <a:gdLst/>
              <a:ahLst/>
              <a:cxnLst/>
              <a:rect l="l" t="t" r="r" b="b"/>
              <a:pathLst>
                <a:path w="1519366" h="1519366">
                  <a:moveTo>
                    <a:pt x="759683" y="0"/>
                  </a:moveTo>
                  <a:cubicBezTo>
                    <a:pt x="340122" y="0"/>
                    <a:pt x="0" y="340122"/>
                    <a:pt x="0" y="759683"/>
                  </a:cubicBezTo>
                  <a:cubicBezTo>
                    <a:pt x="0" y="1179244"/>
                    <a:pt x="340122" y="1519366"/>
                    <a:pt x="759683" y="1519366"/>
                  </a:cubicBezTo>
                  <a:cubicBezTo>
                    <a:pt x="1179244" y="1519366"/>
                    <a:pt x="1519366" y="1179244"/>
                    <a:pt x="1519366" y="759683"/>
                  </a:cubicBezTo>
                  <a:cubicBezTo>
                    <a:pt x="1519366" y="340122"/>
                    <a:pt x="1179244" y="0"/>
                    <a:pt x="759683" y="0"/>
                  </a:cubicBez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sp>
        <p:nvSpPr>
          <p:cNvPr id="20" name="Freeform 20"/>
          <p:cNvSpPr/>
          <p:nvPr/>
        </p:nvSpPr>
        <p:spPr>
          <a:xfrm>
            <a:off x="2589193" y="649817"/>
            <a:ext cx="14024249" cy="207433"/>
          </a:xfrm>
          <a:custGeom>
            <a:avLst/>
            <a:gdLst/>
            <a:ahLst/>
            <a:cxnLst/>
            <a:rect l="l" t="t" r="r" b="b"/>
            <a:pathLst>
              <a:path w="14024249" h="207433">
                <a:moveTo>
                  <a:pt x="0" y="0"/>
                </a:moveTo>
                <a:lnTo>
                  <a:pt x="14024249" y="0"/>
                </a:lnTo>
                <a:lnTo>
                  <a:pt x="14024249" y="207433"/>
                </a:lnTo>
                <a:lnTo>
                  <a:pt x="0" y="20743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6892347" y="481944"/>
            <a:ext cx="984413" cy="1004922"/>
          </a:xfrm>
          <a:custGeom>
            <a:avLst/>
            <a:gdLst/>
            <a:ahLst/>
            <a:cxnLst/>
            <a:rect l="l" t="t" r="r" b="b"/>
            <a:pathLst>
              <a:path w="984413" h="1004922">
                <a:moveTo>
                  <a:pt x="0" y="0"/>
                </a:moveTo>
                <a:lnTo>
                  <a:pt x="984413" y="0"/>
                </a:lnTo>
                <a:lnTo>
                  <a:pt x="984413" y="1004922"/>
                </a:lnTo>
                <a:lnTo>
                  <a:pt x="0" y="1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5239193" y="1190625"/>
            <a:ext cx="8007734" cy="120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9000">
                <a:solidFill>
                  <a:srgbClr val="060606"/>
                </a:solidFill>
                <a:latin typeface="Archivo Black"/>
                <a:ea typeface="Archivo Black"/>
                <a:cs typeface="Archivo Black"/>
                <a:sym typeface="Archivo Black"/>
              </a:rPr>
              <a:t>Ocean Pride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3822" y="568170"/>
            <a:ext cx="1814543" cy="41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3168">
                <a:solidFill>
                  <a:srgbClr val="060606"/>
                </a:solidFill>
                <a:latin typeface="Kingsman"/>
                <a:ea typeface="Kingsman"/>
                <a:cs typeface="Kingsman"/>
                <a:sym typeface="Kingsman"/>
              </a:rPr>
              <a:t>Oceanpride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105281" y="4356149"/>
            <a:ext cx="3068750" cy="422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9"/>
              </a:lnSpc>
            </a:pPr>
            <a:r>
              <a:rPr lang="en-US" sz="2400" b="1" dirty="0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Mr. Kaung </a:t>
            </a:r>
            <a:r>
              <a:rPr lang="en-US" sz="2400" b="1" dirty="0" err="1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Htike</a:t>
            </a:r>
            <a:r>
              <a:rPr lang="en-US" sz="2400" b="1" dirty="0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San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124832" y="6109830"/>
            <a:ext cx="2708617" cy="422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9"/>
              </a:lnSpc>
            </a:pPr>
            <a:r>
              <a:rPr lang="en-US" sz="2400" b="1" dirty="0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Mr. Kyaw Zin Hein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033699" y="7886765"/>
            <a:ext cx="2890881" cy="422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9"/>
              </a:lnSpc>
            </a:pPr>
            <a:r>
              <a:rPr lang="en-US" sz="2400" b="1" dirty="0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Mr. Thaw Linn </a:t>
            </a:r>
            <a:r>
              <a:rPr lang="en-US" sz="2400" b="1" dirty="0" err="1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Htet</a:t>
            </a:r>
            <a:endParaRPr lang="en-US" sz="2400" b="1" dirty="0">
              <a:solidFill>
                <a:srgbClr val="000000"/>
              </a:solidFill>
              <a:latin typeface="Canva Sans 1 Bold"/>
              <a:ea typeface="Canva Sans 1 Bold"/>
              <a:cs typeface="Canva Sans 1 Bold"/>
              <a:sym typeface="Canva Sans 1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8830128" y="4325810"/>
            <a:ext cx="3505810" cy="462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1"/>
              </a:lnSpc>
            </a:pPr>
            <a:r>
              <a:rPr lang="en-US" sz="2400" b="1" dirty="0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Mr. Aung Kaung Myat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948135" y="7174358"/>
            <a:ext cx="3311165" cy="462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1"/>
              </a:lnSpc>
            </a:pPr>
            <a:r>
              <a:rPr lang="en-US" sz="2400" b="1" dirty="0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Mr.  Myat Min </a:t>
            </a:r>
            <a:r>
              <a:rPr lang="en-US" sz="2400" b="1" dirty="0" err="1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Khant</a:t>
            </a:r>
            <a:endParaRPr lang="en-US" sz="2400" b="1" dirty="0">
              <a:solidFill>
                <a:srgbClr val="000000"/>
              </a:solidFill>
              <a:latin typeface="Canva Sans 1 Bold"/>
              <a:ea typeface="Canva Sans 1 Bold"/>
              <a:cs typeface="Canva Sans 1 Bold"/>
              <a:sym typeface="Canva Sans 1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830128" y="6085161"/>
            <a:ext cx="4051531" cy="462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1"/>
              </a:lnSpc>
            </a:pPr>
            <a:r>
              <a:rPr lang="en-US" sz="2400" b="1" dirty="0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Ms. Hsu Myat Noe Thant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830128" y="7862096"/>
            <a:ext cx="3963332" cy="462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1"/>
              </a:lnSpc>
            </a:pPr>
            <a:r>
              <a:rPr lang="en-US" sz="2400" b="1" dirty="0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Ms. Thant Kyi Phyu </a:t>
            </a:r>
            <a:r>
              <a:rPr lang="en-US" sz="2400" b="1" dirty="0" err="1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Nwe</a:t>
            </a:r>
            <a:endParaRPr lang="en-US" sz="2400" b="1" dirty="0">
              <a:solidFill>
                <a:srgbClr val="000000"/>
              </a:solidFill>
              <a:latin typeface="Canva Sans 1 Bold"/>
              <a:ea typeface="Canva Sans 1 Bold"/>
              <a:cs typeface="Canva Sans 1 Bold"/>
              <a:sym typeface="Canva Sans 1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4634570" y="4850353"/>
            <a:ext cx="1689140" cy="396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UI Designer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442751" y="4850353"/>
            <a:ext cx="1790700" cy="396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UX Designer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064320" y="6656273"/>
            <a:ext cx="2829639" cy="389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Frontend Developer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047862" y="8433208"/>
            <a:ext cx="2741533" cy="389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Backend Developer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196726" y="6728886"/>
            <a:ext cx="2829639" cy="389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Frontend Developer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240779" y="8433208"/>
            <a:ext cx="2741533" cy="389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Backend Developer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583937" y="7819063"/>
            <a:ext cx="2301716" cy="389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dirty="0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Project Manager</a:t>
            </a:r>
          </a:p>
        </p:txBody>
      </p:sp>
    </p:spTree>
  </p:cSld>
  <p:clrMapOvr>
    <a:masterClrMapping/>
  </p:clrMapOvr>
  <p:transition spd="med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0" y="-952500"/>
            <a:ext cx="18288000" cy="12192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6941463" y="330666"/>
            <a:ext cx="984413" cy="1004922"/>
          </a:xfrm>
          <a:custGeom>
            <a:avLst/>
            <a:gdLst/>
            <a:ahLst/>
            <a:cxnLst/>
            <a:rect l="l" t="t" r="r" b="b"/>
            <a:pathLst>
              <a:path w="984413" h="1004922">
                <a:moveTo>
                  <a:pt x="0" y="0"/>
                </a:moveTo>
                <a:lnTo>
                  <a:pt x="984413" y="0"/>
                </a:lnTo>
                <a:lnTo>
                  <a:pt x="984413" y="1004922"/>
                </a:lnTo>
                <a:lnTo>
                  <a:pt x="0" y="1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12276" y="441278"/>
            <a:ext cx="229694" cy="1508614"/>
          </a:xfrm>
          <a:custGeom>
            <a:avLst/>
            <a:gdLst/>
            <a:ahLst/>
            <a:cxnLst/>
            <a:rect l="l" t="t" r="r" b="b"/>
            <a:pathLst>
              <a:path w="229694" h="1508614">
                <a:moveTo>
                  <a:pt x="0" y="0"/>
                </a:moveTo>
                <a:lnTo>
                  <a:pt x="229694" y="0"/>
                </a:lnTo>
                <a:lnTo>
                  <a:pt x="22969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91790" y="2581716"/>
            <a:ext cx="3418642" cy="7370944"/>
          </a:xfrm>
          <a:custGeom>
            <a:avLst/>
            <a:gdLst/>
            <a:ahLst/>
            <a:cxnLst/>
            <a:rect l="l" t="t" r="r" b="b"/>
            <a:pathLst>
              <a:path w="3418642" h="7370944">
                <a:moveTo>
                  <a:pt x="0" y="0"/>
                </a:moveTo>
                <a:lnTo>
                  <a:pt x="3418642" y="0"/>
                </a:lnTo>
                <a:lnTo>
                  <a:pt x="3418642" y="7370944"/>
                </a:lnTo>
                <a:lnTo>
                  <a:pt x="0" y="73709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14" r="-2814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06653" y="2332025"/>
            <a:ext cx="788917" cy="788498"/>
          </a:xfrm>
          <a:custGeom>
            <a:avLst/>
            <a:gdLst/>
            <a:ahLst/>
            <a:cxnLst/>
            <a:rect l="l" t="t" r="r" b="b"/>
            <a:pathLst>
              <a:path w="788917" h="788498">
                <a:moveTo>
                  <a:pt x="0" y="0"/>
                </a:moveTo>
                <a:lnTo>
                  <a:pt x="788917" y="0"/>
                </a:lnTo>
                <a:lnTo>
                  <a:pt x="788917" y="788498"/>
                </a:lnTo>
                <a:lnTo>
                  <a:pt x="0" y="7884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54763" y="3619906"/>
            <a:ext cx="3155669" cy="3876783"/>
          </a:xfrm>
          <a:custGeom>
            <a:avLst/>
            <a:gdLst/>
            <a:ahLst/>
            <a:cxnLst/>
            <a:rect l="l" t="t" r="r" b="b"/>
            <a:pathLst>
              <a:path w="3155669" h="3876783">
                <a:moveTo>
                  <a:pt x="0" y="0"/>
                </a:moveTo>
                <a:lnTo>
                  <a:pt x="3155669" y="0"/>
                </a:lnTo>
                <a:lnTo>
                  <a:pt x="3155669" y="3876782"/>
                </a:lnTo>
                <a:lnTo>
                  <a:pt x="0" y="38767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17735" y="4395262"/>
            <a:ext cx="539094" cy="525665"/>
          </a:xfrm>
          <a:custGeom>
            <a:avLst/>
            <a:gdLst/>
            <a:ahLst/>
            <a:cxnLst/>
            <a:rect l="l" t="t" r="r" b="b"/>
            <a:pathLst>
              <a:path w="539094" h="525665">
                <a:moveTo>
                  <a:pt x="0" y="0"/>
                </a:moveTo>
                <a:lnTo>
                  <a:pt x="539094" y="0"/>
                </a:lnTo>
                <a:lnTo>
                  <a:pt x="539094" y="525665"/>
                </a:lnTo>
                <a:lnTo>
                  <a:pt x="0" y="5256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17735" y="4907786"/>
            <a:ext cx="2629724" cy="1550713"/>
          </a:xfrm>
          <a:custGeom>
            <a:avLst/>
            <a:gdLst/>
            <a:ahLst/>
            <a:cxnLst/>
            <a:rect l="l" t="t" r="r" b="b"/>
            <a:pathLst>
              <a:path w="2629724" h="1550713">
                <a:moveTo>
                  <a:pt x="0" y="0"/>
                </a:moveTo>
                <a:lnTo>
                  <a:pt x="2629725" y="0"/>
                </a:lnTo>
                <a:lnTo>
                  <a:pt x="2629725" y="1550713"/>
                </a:lnTo>
                <a:lnTo>
                  <a:pt x="0" y="15507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17735" y="6708190"/>
            <a:ext cx="1065038" cy="525665"/>
          </a:xfrm>
          <a:custGeom>
            <a:avLst/>
            <a:gdLst/>
            <a:ahLst/>
            <a:cxnLst/>
            <a:rect l="l" t="t" r="r" b="b"/>
            <a:pathLst>
              <a:path w="1065038" h="525665">
                <a:moveTo>
                  <a:pt x="0" y="0"/>
                </a:moveTo>
                <a:lnTo>
                  <a:pt x="1065039" y="0"/>
                </a:lnTo>
                <a:lnTo>
                  <a:pt x="1065039" y="525665"/>
                </a:lnTo>
                <a:lnTo>
                  <a:pt x="0" y="5256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424387" y="7536056"/>
            <a:ext cx="2526919" cy="965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4"/>
              </a:lnSpc>
            </a:pPr>
            <a:r>
              <a:rPr lang="en-US" sz="1859" b="1" spc="-37">
                <a:solidFill>
                  <a:srgbClr val="4D4D4D"/>
                </a:solidFill>
                <a:latin typeface="Lato Bold"/>
                <a:ea typeface="Lato Bold"/>
                <a:cs typeface="Lato Bold"/>
                <a:sym typeface="Lato Bold"/>
              </a:rPr>
              <a:t>Driver reports the truck breakdown; order goes On </a:t>
            </a:r>
            <a:r>
              <a:rPr lang="en-US" sz="1859" b="1" spc="-37">
                <a:solidFill>
                  <a:srgbClr val="4D4D4D"/>
                </a:solidFill>
                <a:latin typeface="Lato Heavy"/>
                <a:ea typeface="Lato Heavy"/>
                <a:cs typeface="Lato Heavy"/>
                <a:sym typeface="Lato Heavy"/>
              </a:rPr>
              <a:t>Hold</a:t>
            </a:r>
            <a:r>
              <a:rPr lang="en-US" sz="1859" b="1" spc="-37">
                <a:solidFill>
                  <a:srgbClr val="4D4D4D"/>
                </a:solidFill>
                <a:latin typeface="Lato Bold"/>
                <a:ea typeface="Lato Bold"/>
                <a:cs typeface="Lato Bold"/>
                <a:sym typeface="Lato Bold"/>
              </a:rPr>
              <a:t>.</a:t>
            </a:r>
          </a:p>
        </p:txBody>
      </p:sp>
      <p:sp>
        <p:nvSpPr>
          <p:cNvPr id="10" name="Freeform 10"/>
          <p:cNvSpPr/>
          <p:nvPr/>
        </p:nvSpPr>
        <p:spPr>
          <a:xfrm>
            <a:off x="4806323" y="2581716"/>
            <a:ext cx="3464621" cy="7257012"/>
          </a:xfrm>
          <a:custGeom>
            <a:avLst/>
            <a:gdLst/>
            <a:ahLst/>
            <a:cxnLst/>
            <a:rect l="l" t="t" r="r" b="b"/>
            <a:pathLst>
              <a:path w="3464621" h="7257012">
                <a:moveTo>
                  <a:pt x="0" y="0"/>
                </a:moveTo>
                <a:lnTo>
                  <a:pt x="3464621" y="0"/>
                </a:lnTo>
                <a:lnTo>
                  <a:pt x="3464621" y="7257012"/>
                </a:lnTo>
                <a:lnTo>
                  <a:pt x="0" y="725701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113" r="-2113" b="-1569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108036" y="2332025"/>
            <a:ext cx="802066" cy="788498"/>
          </a:xfrm>
          <a:custGeom>
            <a:avLst/>
            <a:gdLst/>
            <a:ahLst/>
            <a:cxnLst/>
            <a:rect l="l" t="t" r="r" b="b"/>
            <a:pathLst>
              <a:path w="802066" h="788498">
                <a:moveTo>
                  <a:pt x="0" y="0"/>
                </a:moveTo>
                <a:lnTo>
                  <a:pt x="802066" y="0"/>
                </a:lnTo>
                <a:lnTo>
                  <a:pt x="802066" y="788498"/>
                </a:lnTo>
                <a:lnTo>
                  <a:pt x="0" y="78849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5069295" y="3619906"/>
            <a:ext cx="2892697" cy="3613950"/>
          </a:xfrm>
          <a:custGeom>
            <a:avLst/>
            <a:gdLst/>
            <a:ahLst/>
            <a:cxnLst/>
            <a:rect l="l" t="t" r="r" b="b"/>
            <a:pathLst>
              <a:path w="2892697" h="3613950">
                <a:moveTo>
                  <a:pt x="0" y="0"/>
                </a:moveTo>
                <a:lnTo>
                  <a:pt x="2892697" y="0"/>
                </a:lnTo>
                <a:lnTo>
                  <a:pt x="2892697" y="3613949"/>
                </a:lnTo>
                <a:lnTo>
                  <a:pt x="0" y="3613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5310508" y="4105017"/>
            <a:ext cx="264697" cy="516516"/>
          </a:xfrm>
          <a:custGeom>
            <a:avLst/>
            <a:gdLst/>
            <a:ahLst/>
            <a:cxnLst/>
            <a:rect l="l" t="t" r="r" b="b"/>
            <a:pathLst>
              <a:path w="264697" h="516516">
                <a:moveTo>
                  <a:pt x="0" y="0"/>
                </a:moveTo>
                <a:lnTo>
                  <a:pt x="264698" y="0"/>
                </a:lnTo>
                <a:lnTo>
                  <a:pt x="264698" y="516515"/>
                </a:lnTo>
                <a:lnTo>
                  <a:pt x="0" y="51651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5332268" y="4907786"/>
            <a:ext cx="2629724" cy="1301022"/>
          </a:xfrm>
          <a:custGeom>
            <a:avLst/>
            <a:gdLst/>
            <a:ahLst/>
            <a:cxnLst/>
            <a:rect l="l" t="t" r="r" b="b"/>
            <a:pathLst>
              <a:path w="2629724" h="1301022">
                <a:moveTo>
                  <a:pt x="0" y="0"/>
                </a:moveTo>
                <a:lnTo>
                  <a:pt x="2629724" y="0"/>
                </a:lnTo>
                <a:lnTo>
                  <a:pt x="2629724" y="1301022"/>
                </a:lnTo>
                <a:lnTo>
                  <a:pt x="0" y="130102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9431793" y="2581716"/>
            <a:ext cx="3405493" cy="7174576"/>
          </a:xfrm>
          <a:custGeom>
            <a:avLst/>
            <a:gdLst/>
            <a:ahLst/>
            <a:cxnLst/>
            <a:rect l="l" t="t" r="r" b="b"/>
            <a:pathLst>
              <a:path w="3405493" h="7174576">
                <a:moveTo>
                  <a:pt x="0" y="0"/>
                </a:moveTo>
                <a:lnTo>
                  <a:pt x="3405493" y="0"/>
                </a:lnTo>
                <a:lnTo>
                  <a:pt x="3405493" y="7174577"/>
                </a:lnTo>
                <a:lnTo>
                  <a:pt x="0" y="717457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2814" r="-2814" b="-2736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0733506" y="2332025"/>
            <a:ext cx="802066" cy="788498"/>
          </a:xfrm>
          <a:custGeom>
            <a:avLst/>
            <a:gdLst/>
            <a:ahLst/>
            <a:cxnLst/>
            <a:rect l="l" t="t" r="r" b="b"/>
            <a:pathLst>
              <a:path w="802066" h="788498">
                <a:moveTo>
                  <a:pt x="0" y="0"/>
                </a:moveTo>
                <a:lnTo>
                  <a:pt x="802066" y="0"/>
                </a:lnTo>
                <a:lnTo>
                  <a:pt x="802066" y="788498"/>
                </a:lnTo>
                <a:lnTo>
                  <a:pt x="0" y="78849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9681617" y="3619906"/>
            <a:ext cx="2892697" cy="1301022"/>
          </a:xfrm>
          <a:custGeom>
            <a:avLst/>
            <a:gdLst/>
            <a:ahLst/>
            <a:cxnLst/>
            <a:rect l="l" t="t" r="r" b="b"/>
            <a:pathLst>
              <a:path w="2892697" h="1301022">
                <a:moveTo>
                  <a:pt x="0" y="0"/>
                </a:moveTo>
                <a:lnTo>
                  <a:pt x="2892696" y="0"/>
                </a:lnTo>
                <a:lnTo>
                  <a:pt x="2892696" y="1301021"/>
                </a:lnTo>
                <a:lnTo>
                  <a:pt x="0" y="130102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9681617" y="3869597"/>
            <a:ext cx="802066" cy="788498"/>
          </a:xfrm>
          <a:custGeom>
            <a:avLst/>
            <a:gdLst/>
            <a:ahLst/>
            <a:cxnLst/>
            <a:rect l="l" t="t" r="r" b="b"/>
            <a:pathLst>
              <a:path w="802066" h="788498">
                <a:moveTo>
                  <a:pt x="0" y="0"/>
                </a:moveTo>
                <a:lnTo>
                  <a:pt x="802066" y="0"/>
                </a:lnTo>
                <a:lnTo>
                  <a:pt x="802066" y="788498"/>
                </a:lnTo>
                <a:lnTo>
                  <a:pt x="0" y="78849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1493393" y="3878603"/>
            <a:ext cx="460693" cy="471959"/>
          </a:xfrm>
          <a:custGeom>
            <a:avLst/>
            <a:gdLst/>
            <a:ahLst/>
            <a:cxnLst/>
            <a:rect l="l" t="t" r="r" b="b"/>
            <a:pathLst>
              <a:path w="460693" h="471959">
                <a:moveTo>
                  <a:pt x="0" y="0"/>
                </a:moveTo>
                <a:lnTo>
                  <a:pt x="460692" y="0"/>
                </a:lnTo>
                <a:lnTo>
                  <a:pt x="460692" y="471959"/>
                </a:lnTo>
                <a:lnTo>
                  <a:pt x="0" y="47195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9681617" y="4644953"/>
            <a:ext cx="2892697" cy="1563855"/>
          </a:xfrm>
          <a:custGeom>
            <a:avLst/>
            <a:gdLst/>
            <a:ahLst/>
            <a:cxnLst/>
            <a:rect l="l" t="t" r="r" b="b"/>
            <a:pathLst>
              <a:path w="2892697" h="1563855">
                <a:moveTo>
                  <a:pt x="0" y="0"/>
                </a:moveTo>
                <a:lnTo>
                  <a:pt x="2892696" y="0"/>
                </a:lnTo>
                <a:lnTo>
                  <a:pt x="2892696" y="1563855"/>
                </a:lnTo>
                <a:lnTo>
                  <a:pt x="0" y="156385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9681617" y="5157477"/>
            <a:ext cx="802066" cy="538807"/>
          </a:xfrm>
          <a:custGeom>
            <a:avLst/>
            <a:gdLst/>
            <a:ahLst/>
            <a:cxnLst/>
            <a:rect l="l" t="t" r="r" b="b"/>
            <a:pathLst>
              <a:path w="802066" h="538807">
                <a:moveTo>
                  <a:pt x="0" y="0"/>
                </a:moveTo>
                <a:lnTo>
                  <a:pt x="802066" y="0"/>
                </a:lnTo>
                <a:lnTo>
                  <a:pt x="802066" y="538807"/>
                </a:lnTo>
                <a:lnTo>
                  <a:pt x="0" y="53880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1493393" y="5006701"/>
            <a:ext cx="460693" cy="471959"/>
          </a:xfrm>
          <a:custGeom>
            <a:avLst/>
            <a:gdLst/>
            <a:ahLst/>
            <a:cxnLst/>
            <a:rect l="l" t="t" r="r" b="b"/>
            <a:pathLst>
              <a:path w="460693" h="471959">
                <a:moveTo>
                  <a:pt x="0" y="0"/>
                </a:moveTo>
                <a:lnTo>
                  <a:pt x="460692" y="0"/>
                </a:lnTo>
                <a:lnTo>
                  <a:pt x="460692" y="471959"/>
                </a:lnTo>
                <a:lnTo>
                  <a:pt x="0" y="47195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9681617" y="5932833"/>
            <a:ext cx="2892697" cy="1301022"/>
          </a:xfrm>
          <a:custGeom>
            <a:avLst/>
            <a:gdLst/>
            <a:ahLst/>
            <a:cxnLst/>
            <a:rect l="l" t="t" r="r" b="b"/>
            <a:pathLst>
              <a:path w="2892697" h="1301022">
                <a:moveTo>
                  <a:pt x="0" y="0"/>
                </a:moveTo>
                <a:lnTo>
                  <a:pt x="2892696" y="0"/>
                </a:lnTo>
                <a:lnTo>
                  <a:pt x="2892696" y="1301022"/>
                </a:lnTo>
                <a:lnTo>
                  <a:pt x="0" y="130102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9681617" y="6195666"/>
            <a:ext cx="802066" cy="788498"/>
          </a:xfrm>
          <a:custGeom>
            <a:avLst/>
            <a:gdLst/>
            <a:ahLst/>
            <a:cxnLst/>
            <a:rect l="l" t="t" r="r" b="b"/>
            <a:pathLst>
              <a:path w="802066" h="788498">
                <a:moveTo>
                  <a:pt x="0" y="0"/>
                </a:moveTo>
                <a:lnTo>
                  <a:pt x="802066" y="0"/>
                </a:lnTo>
                <a:lnTo>
                  <a:pt x="802066" y="788498"/>
                </a:lnTo>
                <a:lnTo>
                  <a:pt x="0" y="788498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0436120" y="6667311"/>
            <a:ext cx="1546104" cy="230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3"/>
              </a:lnSpc>
            </a:pPr>
            <a:r>
              <a:rPr lang="en-US" sz="1352" spc="-27">
                <a:solidFill>
                  <a:srgbClr val="4D4D4D"/>
                </a:solidFill>
                <a:latin typeface="Lato"/>
                <a:ea typeface="Lato"/>
                <a:cs typeface="Lato"/>
                <a:sym typeface="Lato"/>
              </a:rPr>
              <a:t>Assignment accepted</a:t>
            </a:r>
          </a:p>
        </p:txBody>
      </p:sp>
      <p:sp>
        <p:nvSpPr>
          <p:cNvPr id="26" name="Freeform 26"/>
          <p:cNvSpPr/>
          <p:nvPr/>
        </p:nvSpPr>
        <p:spPr>
          <a:xfrm>
            <a:off x="11493393" y="6134798"/>
            <a:ext cx="460693" cy="241735"/>
          </a:xfrm>
          <a:custGeom>
            <a:avLst/>
            <a:gdLst/>
            <a:ahLst/>
            <a:cxnLst/>
            <a:rect l="l" t="t" r="r" b="b"/>
            <a:pathLst>
              <a:path w="460693" h="241735">
                <a:moveTo>
                  <a:pt x="0" y="0"/>
                </a:moveTo>
                <a:lnTo>
                  <a:pt x="460692" y="0"/>
                </a:lnTo>
                <a:lnTo>
                  <a:pt x="460692" y="241735"/>
                </a:lnTo>
                <a:lnTo>
                  <a:pt x="0" y="24173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3839937" y="2581716"/>
            <a:ext cx="3464621" cy="7370944"/>
          </a:xfrm>
          <a:custGeom>
            <a:avLst/>
            <a:gdLst/>
            <a:ahLst/>
            <a:cxnLst/>
            <a:rect l="l" t="t" r="r" b="b"/>
            <a:pathLst>
              <a:path w="3464621" h="7370944">
                <a:moveTo>
                  <a:pt x="0" y="0"/>
                </a:moveTo>
                <a:lnTo>
                  <a:pt x="3464620" y="0"/>
                </a:lnTo>
                <a:lnTo>
                  <a:pt x="3464620" y="7370944"/>
                </a:lnTo>
                <a:lnTo>
                  <a:pt x="0" y="7370944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-2113" r="-2113"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4937805" y="2332025"/>
            <a:ext cx="1051890" cy="788498"/>
          </a:xfrm>
          <a:custGeom>
            <a:avLst/>
            <a:gdLst/>
            <a:ahLst/>
            <a:cxnLst/>
            <a:rect l="l" t="t" r="r" b="b"/>
            <a:pathLst>
              <a:path w="1051890" h="788498">
                <a:moveTo>
                  <a:pt x="0" y="0"/>
                </a:moveTo>
                <a:lnTo>
                  <a:pt x="1051890" y="0"/>
                </a:lnTo>
                <a:lnTo>
                  <a:pt x="1051890" y="788498"/>
                </a:lnTo>
                <a:lnTo>
                  <a:pt x="0" y="788498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3885916" y="3619906"/>
            <a:ext cx="3155669" cy="4126474"/>
          </a:xfrm>
          <a:custGeom>
            <a:avLst/>
            <a:gdLst/>
            <a:ahLst/>
            <a:cxnLst/>
            <a:rect l="l" t="t" r="r" b="b"/>
            <a:pathLst>
              <a:path w="3155669" h="4126474">
                <a:moveTo>
                  <a:pt x="0" y="0"/>
                </a:moveTo>
                <a:lnTo>
                  <a:pt x="3155669" y="0"/>
                </a:lnTo>
                <a:lnTo>
                  <a:pt x="3155669" y="4126473"/>
                </a:lnTo>
                <a:lnTo>
                  <a:pt x="0" y="4126473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6181329" y="4052972"/>
            <a:ext cx="493543" cy="493281"/>
          </a:xfrm>
          <a:custGeom>
            <a:avLst/>
            <a:gdLst/>
            <a:ahLst/>
            <a:cxnLst/>
            <a:rect l="l" t="t" r="r" b="b"/>
            <a:pathLst>
              <a:path w="493543" h="493281">
                <a:moveTo>
                  <a:pt x="0" y="0"/>
                </a:moveTo>
                <a:lnTo>
                  <a:pt x="493542" y="0"/>
                </a:lnTo>
                <a:lnTo>
                  <a:pt x="493542" y="493281"/>
                </a:lnTo>
                <a:lnTo>
                  <a:pt x="0" y="493281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4937805" y="5157477"/>
            <a:ext cx="539094" cy="538807"/>
          </a:xfrm>
          <a:custGeom>
            <a:avLst/>
            <a:gdLst/>
            <a:ahLst/>
            <a:cxnLst/>
            <a:rect l="l" t="t" r="r" b="b"/>
            <a:pathLst>
              <a:path w="539094" h="538807">
                <a:moveTo>
                  <a:pt x="0" y="0"/>
                </a:moveTo>
                <a:lnTo>
                  <a:pt x="539094" y="0"/>
                </a:lnTo>
                <a:lnTo>
                  <a:pt x="539094" y="538807"/>
                </a:lnTo>
                <a:lnTo>
                  <a:pt x="0" y="53880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4411860" y="5932833"/>
            <a:ext cx="2629724" cy="1813546"/>
          </a:xfrm>
          <a:custGeom>
            <a:avLst/>
            <a:gdLst/>
            <a:ahLst/>
            <a:cxnLst/>
            <a:rect l="l" t="t" r="r" b="b"/>
            <a:pathLst>
              <a:path w="2629724" h="1813546">
                <a:moveTo>
                  <a:pt x="0" y="0"/>
                </a:moveTo>
                <a:lnTo>
                  <a:pt x="2629725" y="0"/>
                </a:lnTo>
                <a:lnTo>
                  <a:pt x="2629725" y="1813546"/>
                </a:lnTo>
                <a:lnTo>
                  <a:pt x="0" y="1813546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1258219" y="6475798"/>
            <a:ext cx="241864" cy="241735"/>
          </a:xfrm>
          <a:custGeom>
            <a:avLst/>
            <a:gdLst/>
            <a:ahLst/>
            <a:cxnLst/>
            <a:rect l="l" t="t" r="r" b="b"/>
            <a:pathLst>
              <a:path w="241864" h="241735">
                <a:moveTo>
                  <a:pt x="0" y="0"/>
                </a:moveTo>
                <a:lnTo>
                  <a:pt x="241864" y="0"/>
                </a:lnTo>
                <a:lnTo>
                  <a:pt x="241864" y="241735"/>
                </a:lnTo>
                <a:lnTo>
                  <a:pt x="0" y="24173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4159837" y="4996609"/>
            <a:ext cx="702556" cy="460448"/>
          </a:xfrm>
          <a:custGeom>
            <a:avLst/>
            <a:gdLst/>
            <a:ahLst/>
            <a:cxnLst/>
            <a:rect l="l" t="t" r="r" b="b"/>
            <a:pathLst>
              <a:path w="702556" h="460448">
                <a:moveTo>
                  <a:pt x="0" y="0"/>
                </a:moveTo>
                <a:lnTo>
                  <a:pt x="702557" y="0"/>
                </a:lnTo>
                <a:lnTo>
                  <a:pt x="702557" y="460448"/>
                </a:lnTo>
                <a:lnTo>
                  <a:pt x="0" y="460448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8416904" y="4927253"/>
            <a:ext cx="691039" cy="460448"/>
          </a:xfrm>
          <a:custGeom>
            <a:avLst/>
            <a:gdLst/>
            <a:ahLst/>
            <a:cxnLst/>
            <a:rect l="l" t="t" r="r" b="b"/>
            <a:pathLst>
              <a:path w="691039" h="460448">
                <a:moveTo>
                  <a:pt x="0" y="0"/>
                </a:moveTo>
                <a:lnTo>
                  <a:pt x="691039" y="0"/>
                </a:lnTo>
                <a:lnTo>
                  <a:pt x="691039" y="460448"/>
                </a:lnTo>
                <a:lnTo>
                  <a:pt x="0" y="460448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2951586" y="4697029"/>
            <a:ext cx="702556" cy="690672"/>
          </a:xfrm>
          <a:custGeom>
            <a:avLst/>
            <a:gdLst/>
            <a:ahLst/>
            <a:cxnLst/>
            <a:rect l="l" t="t" r="r" b="b"/>
            <a:pathLst>
              <a:path w="702556" h="690672">
                <a:moveTo>
                  <a:pt x="0" y="0"/>
                </a:moveTo>
                <a:lnTo>
                  <a:pt x="702556" y="0"/>
                </a:lnTo>
                <a:lnTo>
                  <a:pt x="702556" y="690672"/>
                </a:lnTo>
                <a:lnTo>
                  <a:pt x="0" y="690672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1424387" y="8758410"/>
            <a:ext cx="2526919" cy="322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4"/>
              </a:lnSpc>
            </a:pPr>
            <a:r>
              <a:rPr lang="en-US" sz="1859" b="1" spc="-37">
                <a:solidFill>
                  <a:srgbClr val="4D4D4D"/>
                </a:solidFill>
                <a:latin typeface="Lato Bold"/>
                <a:ea typeface="Lato Bold"/>
                <a:cs typeface="Lato Bold"/>
                <a:sym typeface="Lato Bold"/>
              </a:rPr>
              <a:t>User : Driver</a:t>
            </a:r>
          </a:p>
        </p:txBody>
      </p:sp>
      <p:sp>
        <p:nvSpPr>
          <p:cNvPr id="38" name="Freeform 38"/>
          <p:cNvSpPr/>
          <p:nvPr/>
        </p:nvSpPr>
        <p:spPr>
          <a:xfrm>
            <a:off x="17015015" y="412465"/>
            <a:ext cx="984413" cy="1004922"/>
          </a:xfrm>
          <a:custGeom>
            <a:avLst/>
            <a:gdLst/>
            <a:ahLst/>
            <a:cxnLst/>
            <a:rect l="l" t="t" r="r" b="b"/>
            <a:pathLst>
              <a:path w="984413" h="1004922">
                <a:moveTo>
                  <a:pt x="0" y="0"/>
                </a:moveTo>
                <a:lnTo>
                  <a:pt x="984413" y="0"/>
                </a:lnTo>
                <a:lnTo>
                  <a:pt x="984413" y="1004922"/>
                </a:lnTo>
                <a:lnTo>
                  <a:pt x="0" y="1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9824339" y="9032978"/>
            <a:ext cx="2526919" cy="322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4"/>
              </a:lnSpc>
            </a:pPr>
            <a:r>
              <a:rPr lang="en-US" sz="1859" b="1" spc="-37">
                <a:solidFill>
                  <a:srgbClr val="4D4D4D"/>
                </a:solidFill>
                <a:latin typeface="Lato Bold"/>
                <a:ea typeface="Lato Bold"/>
                <a:cs typeface="Lato Bold"/>
                <a:sym typeface="Lato Bold"/>
              </a:rPr>
              <a:t>User : HQ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11189013" y="8842478"/>
            <a:ext cx="765072" cy="765072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6"/>
              <a:stretch>
                <a:fillRect t="-41638" b="-41638"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2892347" y="8411088"/>
            <a:ext cx="866226" cy="866226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7"/>
              <a:stretch>
                <a:fillRect t="-17407" b="-17407"/>
              </a:stretch>
            </a:blipFill>
          </p:spPr>
        </p:sp>
      </p:grpSp>
      <p:sp>
        <p:nvSpPr>
          <p:cNvPr id="44" name="TextBox 44"/>
          <p:cNvSpPr txBox="1"/>
          <p:nvPr/>
        </p:nvSpPr>
        <p:spPr>
          <a:xfrm>
            <a:off x="948393" y="619934"/>
            <a:ext cx="6377419" cy="797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8"/>
              </a:lnSpc>
            </a:pPr>
            <a:r>
              <a:rPr lang="en-US" sz="6008" b="1" spc="-178">
                <a:solidFill>
                  <a:srgbClr val="0B2447"/>
                </a:solidFill>
                <a:latin typeface="Lato Bold"/>
                <a:ea typeface="Lato Bold"/>
                <a:cs typeface="Lato Bold"/>
                <a:sym typeface="Lato Bold"/>
              </a:rPr>
              <a:t>Solution &amp; Demo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12167" y="1601585"/>
            <a:ext cx="11626453" cy="298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7"/>
              </a:lnSpc>
            </a:pPr>
            <a:r>
              <a:rPr lang="en-US" sz="2387" spc="-23">
                <a:solidFill>
                  <a:srgbClr val="495064"/>
                </a:solidFill>
                <a:latin typeface="Lato"/>
                <a:ea typeface="Lato"/>
                <a:cs typeface="Lato"/>
                <a:sym typeface="Lato"/>
              </a:rPr>
              <a:t>SupplyLink coordinates recovery, stock fulfilment, and visibility when delivery fails.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261245" y="7468957"/>
            <a:ext cx="2460123" cy="128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4"/>
              </a:lnSpc>
            </a:pPr>
            <a:r>
              <a:rPr lang="en-US" sz="1859" b="1" spc="-37">
                <a:solidFill>
                  <a:srgbClr val="4D4D4D"/>
                </a:solidFill>
                <a:latin typeface="Lato Bold"/>
                <a:ea typeface="Lato Bold"/>
                <a:cs typeface="Lato Bold"/>
                <a:sym typeface="Lato Bold"/>
              </a:rPr>
              <a:t>Checks branch backup stock and suggests </a:t>
            </a:r>
            <a:r>
              <a:rPr lang="en-US" sz="1859" b="1" spc="-37">
                <a:solidFill>
                  <a:srgbClr val="4D4D4D"/>
                </a:solidFill>
                <a:latin typeface="Lato Heavy"/>
                <a:ea typeface="Lato Heavy"/>
                <a:cs typeface="Lato Heavy"/>
                <a:sym typeface="Lato Heavy"/>
              </a:rPr>
              <a:t>Yangon Central</a:t>
            </a:r>
            <a:r>
              <a:rPr lang="en-US" sz="1859" b="1" spc="-37">
                <a:solidFill>
                  <a:srgbClr val="4D4D4D"/>
                </a:solidFill>
                <a:latin typeface="Lato Bold"/>
                <a:ea typeface="Lato Bold"/>
                <a:cs typeface="Lato Bold"/>
                <a:sym typeface="Lato Bold"/>
              </a:rPr>
              <a:t>, which can supply all fourteen.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202029" y="3233098"/>
            <a:ext cx="1740886" cy="247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sz="1944" b="1" spc="-18">
                <a:solidFill>
                  <a:srgbClr val="0B2447"/>
                </a:solidFill>
                <a:latin typeface="Lato Bold"/>
                <a:ea typeface="Lato Bold"/>
                <a:cs typeface="Lato Bold"/>
                <a:sym typeface="Lato Bold"/>
              </a:rPr>
              <a:t>People confirm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824339" y="7468957"/>
            <a:ext cx="2607252" cy="128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4"/>
              </a:lnSpc>
            </a:pPr>
            <a:r>
              <a:rPr lang="en-US" sz="1859" b="1" spc="-37">
                <a:solidFill>
                  <a:srgbClr val="4D4D4D"/>
                </a:solidFill>
                <a:latin typeface="Lato Bold"/>
                <a:ea typeface="Lato Bold"/>
                <a:cs typeface="Lato Bold"/>
                <a:sym typeface="Lato Bold"/>
              </a:rPr>
              <a:t>Branch accepts and reserves stock. HQ confirms the plan. Driver confirms the assignment.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4222419" y="7698754"/>
            <a:ext cx="2286647" cy="965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4"/>
              </a:lnSpc>
            </a:pPr>
            <a:r>
              <a:rPr lang="en-US" sz="1859" b="1" spc="-37">
                <a:solidFill>
                  <a:srgbClr val="4D4D4D"/>
                </a:solidFill>
                <a:latin typeface="Lato Bold"/>
                <a:ea typeface="Lato Bold"/>
                <a:cs typeface="Lato Bold"/>
                <a:sym typeface="Lato Bold"/>
              </a:rPr>
              <a:t>Delivery continues</a:t>
            </a:r>
          </a:p>
          <a:p>
            <a:pPr algn="l">
              <a:lnSpc>
                <a:spcPts val="2604"/>
              </a:lnSpc>
            </a:pPr>
            <a:r>
              <a:rPr lang="en-US" sz="1859" b="1" spc="-37">
                <a:solidFill>
                  <a:srgbClr val="4D4D4D"/>
                </a:solidFill>
                <a:latin typeface="Lato Bold"/>
                <a:ea typeface="Lato Bold"/>
                <a:cs typeface="Lato Bold"/>
                <a:sym typeface="Lato Bold"/>
              </a:rPr>
              <a:t>and everyone follows</a:t>
            </a:r>
          </a:p>
          <a:p>
            <a:pPr algn="l">
              <a:lnSpc>
                <a:spcPts val="2604"/>
              </a:lnSpc>
            </a:pPr>
            <a:r>
              <a:rPr lang="en-US" sz="1859" b="1" spc="-37">
                <a:solidFill>
                  <a:srgbClr val="4D4D4D"/>
                </a:solidFill>
                <a:latin typeface="Lato Bold"/>
                <a:ea typeface="Lato Bold"/>
                <a:cs typeface="Lato Bold"/>
                <a:sym typeface="Lato Bold"/>
              </a:rPr>
              <a:t>the new route.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493612" y="3233098"/>
            <a:ext cx="2384795" cy="247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sz="1944" b="1" spc="-18">
                <a:solidFill>
                  <a:srgbClr val="0B2447"/>
                </a:solidFill>
                <a:latin typeface="Lato Bold"/>
                <a:ea typeface="Lato Bold"/>
                <a:cs typeface="Lato Bold"/>
                <a:sym typeface="Lato Bold"/>
              </a:rPr>
              <a:t>Breakdown reported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288113" y="3233098"/>
            <a:ext cx="2467452" cy="247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sz="1944" b="1" spc="-18">
                <a:solidFill>
                  <a:srgbClr val="2DB36B"/>
                </a:solidFill>
                <a:latin typeface="Lato Bold"/>
                <a:ea typeface="Lato Bold"/>
                <a:cs typeface="Lato Bold"/>
                <a:sym typeface="Lato Bold"/>
              </a:rPr>
              <a:t>AI reroute suggestion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4587243" y="3233098"/>
            <a:ext cx="1781731" cy="247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sz="1944" b="1" spc="-18">
                <a:solidFill>
                  <a:srgbClr val="0B2447"/>
                </a:solidFill>
                <a:latin typeface="Lato Bold"/>
                <a:ea typeface="Lato Bold"/>
                <a:cs typeface="Lato Bold"/>
                <a:sym typeface="Lato Bold"/>
              </a:rPr>
              <a:t>New route sent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572902" y="4035078"/>
            <a:ext cx="1109170" cy="186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352" b="1" spc="-13">
                <a:solidFill>
                  <a:srgbClr val="1E1E1E"/>
                </a:solidFill>
                <a:latin typeface="Lato Bold"/>
                <a:ea typeface="Lato Bold"/>
                <a:cs typeface="Lato Bold"/>
                <a:sym typeface="Lato Bold"/>
              </a:rPr>
              <a:t>SL-2026-1052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417878" y="4035078"/>
            <a:ext cx="1901324" cy="186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352" b="1" spc="-13">
                <a:solidFill>
                  <a:srgbClr val="2DB36B"/>
                </a:solidFill>
                <a:latin typeface="Lato Bold"/>
                <a:ea typeface="Lato Bold"/>
                <a:cs typeface="Lato Bold"/>
                <a:sym typeface="Lato Bold"/>
              </a:rPr>
              <a:t>❌ AI reroute suggestion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0439959" y="4089393"/>
            <a:ext cx="1162285" cy="186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352" b="1" spc="-13">
                <a:solidFill>
                  <a:srgbClr val="495050"/>
                </a:solidFill>
                <a:latin typeface="Lato Bold"/>
                <a:ea typeface="Lato Bold"/>
                <a:cs typeface="Lato Bold"/>
                <a:sym typeface="Lato Bold"/>
              </a:rPr>
              <a:t>Branch accepts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0440390" y="4379074"/>
            <a:ext cx="1119137" cy="186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352" spc="-13">
                <a:solidFill>
                  <a:srgbClr val="495050"/>
                </a:solidFill>
                <a:latin typeface="Lato"/>
                <a:ea typeface="Lato"/>
                <a:cs typeface="Lato"/>
                <a:sym typeface="Lato"/>
              </a:rPr>
              <a:t>Stock reserved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570512" y="4578230"/>
            <a:ext cx="1348119" cy="186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352" b="1" spc="-13">
                <a:solidFill>
                  <a:srgbClr val="1E1E1E"/>
                </a:solidFill>
                <a:latin typeface="Lato Bold"/>
                <a:ea typeface="Lato Bold"/>
                <a:cs typeface="Lato Bold"/>
                <a:sym typeface="Lato Bold"/>
              </a:rPr>
              <a:t>C2 Refresh status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363886" y="4578230"/>
            <a:ext cx="859835" cy="186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352" b="1" spc="-13">
                <a:solidFill>
                  <a:srgbClr val="1E1E1E"/>
                </a:solidFill>
                <a:latin typeface="Lato Bold"/>
                <a:ea typeface="Lato Bold"/>
                <a:cs typeface="Lato Bold"/>
                <a:sym typeface="Lato Bold"/>
              </a:rPr>
              <a:t>Best match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552225" y="5124603"/>
            <a:ext cx="1348229" cy="179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6"/>
              </a:lnSpc>
            </a:pPr>
            <a:r>
              <a:rPr lang="en-US" sz="1436" b="1" spc="-14">
                <a:solidFill>
                  <a:srgbClr val="1E1E1E"/>
                </a:solidFill>
                <a:latin typeface="Lato Heavy"/>
                <a:ea typeface="Lato Heavy"/>
                <a:cs typeface="Lato Heavy"/>
                <a:sym typeface="Lato Heavy"/>
              </a:rPr>
              <a:t>Yangon Central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0441784" y="5266221"/>
            <a:ext cx="979689" cy="186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352" b="1" spc="-13">
                <a:solidFill>
                  <a:srgbClr val="1E1E1E"/>
                </a:solidFill>
                <a:latin typeface="Lato Bold"/>
                <a:ea typeface="Lato Bold"/>
                <a:cs typeface="Lato Bold"/>
                <a:sym typeface="Lato Bold"/>
              </a:rPr>
              <a:t>HQ confirms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729474" y="5237013"/>
            <a:ext cx="1553848" cy="230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3"/>
              </a:lnSpc>
            </a:pPr>
            <a:r>
              <a:rPr lang="en-US" sz="1352" b="1" spc="-27">
                <a:solidFill>
                  <a:srgbClr val="A33838"/>
                </a:solidFill>
                <a:latin typeface="Lato Heavy"/>
                <a:ea typeface="Lato Heavy"/>
                <a:cs typeface="Lato Heavy"/>
                <a:sym typeface="Lato Heavy"/>
              </a:rPr>
              <a:t>Breakdown reported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440688" y="5490484"/>
            <a:ext cx="1089371" cy="230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3"/>
              </a:lnSpc>
            </a:pPr>
            <a:r>
              <a:rPr lang="en-US" sz="1352" spc="-27">
                <a:solidFill>
                  <a:srgbClr val="4D4D4D"/>
                </a:solidFill>
                <a:latin typeface="Lato"/>
                <a:ea typeface="Lato"/>
                <a:cs typeface="Lato"/>
                <a:sym typeface="Lato"/>
              </a:rPr>
              <a:t>Plan confirmed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729538" y="5573172"/>
            <a:ext cx="1547424" cy="464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2"/>
              </a:lnSpc>
            </a:pPr>
            <a:r>
              <a:rPr lang="en-US" sz="1436" spc="-28">
                <a:solidFill>
                  <a:srgbClr val="4D4D4D"/>
                </a:solidFill>
                <a:latin typeface="Lato"/>
                <a:ea typeface="Lato"/>
                <a:cs typeface="Lato"/>
                <a:sym typeface="Lato"/>
              </a:rPr>
              <a:t>Truck breakdown. Unable to continue.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548862" y="5562904"/>
            <a:ext cx="1684520" cy="230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3"/>
              </a:lnSpc>
            </a:pPr>
            <a:r>
              <a:rPr lang="en-US" sz="1352" b="1" spc="-27">
                <a:solidFill>
                  <a:srgbClr val="4D4D4D"/>
                </a:solidFill>
                <a:latin typeface="Lato Bold"/>
                <a:ea typeface="Lato Bold"/>
                <a:cs typeface="Lato Bold"/>
                <a:sym typeface="Lato Bold"/>
              </a:rPr>
              <a:t>Can supply all fourteen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361183" y="6287105"/>
            <a:ext cx="1130123" cy="230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3"/>
              </a:lnSpc>
            </a:pPr>
            <a:r>
              <a:rPr lang="en-US" sz="1352" b="1" spc="-27">
                <a:solidFill>
                  <a:srgbClr val="4D4D4D"/>
                </a:solidFill>
                <a:latin typeface="Lato Heavy"/>
                <a:ea typeface="Lato Heavy"/>
                <a:cs typeface="Lato Heavy"/>
                <a:sym typeface="Lato Heavy"/>
              </a:rPr>
              <a:t>Available stock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4431576" y="6287105"/>
            <a:ext cx="699284" cy="230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3"/>
              </a:lnSpc>
            </a:pPr>
            <a:r>
              <a:rPr lang="en-US" sz="1352" b="1" spc="-27">
                <a:solidFill>
                  <a:srgbClr val="4D4D4D"/>
                </a:solidFill>
                <a:latin typeface="Lato Heavy"/>
                <a:ea typeface="Lato Heavy"/>
                <a:cs typeface="Lato Heavy"/>
                <a:sym typeface="Lato Heavy"/>
              </a:rPr>
              <a:t>Rerouted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0439977" y="6359526"/>
            <a:ext cx="1160477" cy="230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3"/>
              </a:lnSpc>
            </a:pPr>
            <a:r>
              <a:rPr lang="en-US" sz="1352" b="1" spc="-27">
                <a:solidFill>
                  <a:srgbClr val="4D4D4D"/>
                </a:solidFill>
                <a:latin typeface="Lato Heavy"/>
                <a:ea typeface="Lato Heavy"/>
                <a:cs typeface="Lato Heavy"/>
                <a:sym typeface="Lato Heavy"/>
              </a:rPr>
              <a:t>Driver confirms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579290" y="6395736"/>
            <a:ext cx="470313" cy="230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3"/>
              </a:lnSpc>
            </a:pPr>
            <a:r>
              <a:rPr lang="en-US" sz="1352" b="1" spc="-27">
                <a:solidFill>
                  <a:srgbClr val="4D4D4D"/>
                </a:solidFill>
                <a:latin typeface="Lato Heavy"/>
                <a:ea typeface="Lato Heavy"/>
                <a:cs typeface="Lato Heavy"/>
                <a:sym typeface="Lato Heavy"/>
              </a:rPr>
              <a:t>Status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5362351" y="6631101"/>
            <a:ext cx="1013279" cy="230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3"/>
              </a:lnSpc>
            </a:pPr>
            <a:r>
              <a:rPr lang="en-US" sz="1352" b="1" spc="-27">
                <a:solidFill>
                  <a:srgbClr val="2DB36B"/>
                </a:solidFill>
                <a:latin typeface="Lato Bold"/>
                <a:ea typeface="Lato Bold"/>
                <a:cs typeface="Lato Bold"/>
                <a:sym typeface="Lato Bold"/>
              </a:rPr>
              <a:t>14 / 14 boxes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4429018" y="6631101"/>
            <a:ext cx="955071" cy="230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3"/>
              </a:lnSpc>
            </a:pPr>
            <a:r>
              <a:rPr lang="en-US" sz="1352" spc="-27">
                <a:solidFill>
                  <a:srgbClr val="4D4D4D"/>
                </a:solidFill>
                <a:latin typeface="Lato"/>
                <a:ea typeface="Lato"/>
                <a:cs typeface="Lato"/>
                <a:sym typeface="Lato"/>
              </a:rPr>
              <a:t>* On the way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738705" y="6794047"/>
            <a:ext cx="630758" cy="230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3"/>
              </a:lnSpc>
            </a:pPr>
            <a:r>
              <a:rPr lang="en-US" sz="1352" b="1" spc="-27">
                <a:solidFill>
                  <a:srgbClr val="A33838"/>
                </a:solidFill>
                <a:latin typeface="Lato Heavy"/>
                <a:ea typeface="Lato Heavy"/>
                <a:cs typeface="Lato Heavy"/>
                <a:sym typeface="Lato Heavy"/>
              </a:rPr>
              <a:t>On Hold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4428395" y="7047517"/>
            <a:ext cx="1017320" cy="230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3"/>
              </a:lnSpc>
            </a:pPr>
            <a:r>
              <a:rPr lang="en-US" sz="1352" b="1" spc="-27">
                <a:solidFill>
                  <a:srgbClr val="4D4D4D"/>
                </a:solidFill>
                <a:latin typeface="Lato Heavy"/>
                <a:ea typeface="Lato Heavy"/>
                <a:cs typeface="Lato Heavy"/>
                <a:sym typeface="Lato Heavy"/>
              </a:rPr>
              <a:t>14 / 14 boxes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7561737" y="9502775"/>
            <a:ext cx="181227" cy="449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2860"/>
            <a:ext cx="18288000" cy="10241280"/>
          </a:xfrm>
          <a:custGeom>
            <a:avLst/>
            <a:gdLst/>
            <a:ahLst/>
            <a:cxnLst/>
            <a:rect l="l" t="t" r="r" b="b"/>
            <a:pathLst>
              <a:path w="18288000" h="10241280">
                <a:moveTo>
                  <a:pt x="0" y="0"/>
                </a:moveTo>
                <a:lnTo>
                  <a:pt x="18288000" y="0"/>
                </a:lnTo>
                <a:lnTo>
                  <a:pt x="18288000" y="10241280"/>
                </a:lnTo>
                <a:lnTo>
                  <a:pt x="0" y="10241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47848" y="9409112"/>
            <a:ext cx="1240818" cy="241960"/>
          </a:xfrm>
          <a:custGeom>
            <a:avLst/>
            <a:gdLst/>
            <a:ahLst/>
            <a:cxnLst/>
            <a:rect l="l" t="t" r="r" b="b"/>
            <a:pathLst>
              <a:path w="1240818" h="241960">
                <a:moveTo>
                  <a:pt x="0" y="0"/>
                </a:moveTo>
                <a:lnTo>
                  <a:pt x="1240818" y="0"/>
                </a:lnTo>
                <a:lnTo>
                  <a:pt x="1240818" y="241960"/>
                </a:lnTo>
                <a:lnTo>
                  <a:pt x="0" y="241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556565" y="9502775"/>
            <a:ext cx="191572" cy="448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Canva Sans 1"/>
                <a:ea typeface="Canva Sans 1"/>
                <a:cs typeface="Canva Sans 1"/>
                <a:sym typeface="Canva Sans 1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47848" y="9409112"/>
            <a:ext cx="1240818" cy="241960"/>
          </a:xfrm>
          <a:custGeom>
            <a:avLst/>
            <a:gdLst/>
            <a:ahLst/>
            <a:cxnLst/>
            <a:rect l="l" t="t" r="r" b="b"/>
            <a:pathLst>
              <a:path w="1240818" h="241960">
                <a:moveTo>
                  <a:pt x="0" y="0"/>
                </a:moveTo>
                <a:lnTo>
                  <a:pt x="1240818" y="0"/>
                </a:lnTo>
                <a:lnTo>
                  <a:pt x="1240818" y="241960"/>
                </a:lnTo>
                <a:lnTo>
                  <a:pt x="0" y="241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552457" y="9502775"/>
            <a:ext cx="199787" cy="448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Canva Sans 1"/>
                <a:ea typeface="Canva Sans 1"/>
                <a:cs typeface="Canva Sans 1"/>
                <a:sym typeface="Canva Sans 1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47848" y="9409112"/>
            <a:ext cx="1240818" cy="241960"/>
          </a:xfrm>
          <a:custGeom>
            <a:avLst/>
            <a:gdLst/>
            <a:ahLst/>
            <a:cxnLst/>
            <a:rect l="l" t="t" r="r" b="b"/>
            <a:pathLst>
              <a:path w="1240818" h="241960">
                <a:moveTo>
                  <a:pt x="0" y="0"/>
                </a:moveTo>
                <a:lnTo>
                  <a:pt x="1240818" y="0"/>
                </a:lnTo>
                <a:lnTo>
                  <a:pt x="1240818" y="241960"/>
                </a:lnTo>
                <a:lnTo>
                  <a:pt x="0" y="241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554819" y="9502775"/>
            <a:ext cx="195063" cy="449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47848" y="9409112"/>
            <a:ext cx="1240818" cy="241960"/>
          </a:xfrm>
          <a:custGeom>
            <a:avLst/>
            <a:gdLst/>
            <a:ahLst/>
            <a:cxnLst/>
            <a:rect l="l" t="t" r="r" b="b"/>
            <a:pathLst>
              <a:path w="1240818" h="241960">
                <a:moveTo>
                  <a:pt x="0" y="0"/>
                </a:moveTo>
                <a:lnTo>
                  <a:pt x="1240818" y="0"/>
                </a:lnTo>
                <a:lnTo>
                  <a:pt x="1240818" y="241960"/>
                </a:lnTo>
                <a:lnTo>
                  <a:pt x="0" y="241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546217" y="9502775"/>
            <a:ext cx="212266" cy="449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47848" y="9409112"/>
            <a:ext cx="1240818" cy="241960"/>
          </a:xfrm>
          <a:custGeom>
            <a:avLst/>
            <a:gdLst/>
            <a:ahLst/>
            <a:cxnLst/>
            <a:rect l="l" t="t" r="r" b="b"/>
            <a:pathLst>
              <a:path w="1240818" h="241960">
                <a:moveTo>
                  <a:pt x="0" y="0"/>
                </a:moveTo>
                <a:lnTo>
                  <a:pt x="1240818" y="0"/>
                </a:lnTo>
                <a:lnTo>
                  <a:pt x="1240818" y="241960"/>
                </a:lnTo>
                <a:lnTo>
                  <a:pt x="0" y="241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570930" y="9502775"/>
            <a:ext cx="162841" cy="449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47848" y="9409112"/>
            <a:ext cx="1240818" cy="241960"/>
          </a:xfrm>
          <a:custGeom>
            <a:avLst/>
            <a:gdLst/>
            <a:ahLst/>
            <a:cxnLst/>
            <a:rect l="l" t="t" r="r" b="b"/>
            <a:pathLst>
              <a:path w="1240818" h="241960">
                <a:moveTo>
                  <a:pt x="0" y="0"/>
                </a:moveTo>
                <a:lnTo>
                  <a:pt x="1240818" y="0"/>
                </a:lnTo>
                <a:lnTo>
                  <a:pt x="1240818" y="241960"/>
                </a:lnTo>
                <a:lnTo>
                  <a:pt x="0" y="241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552635" y="9502775"/>
            <a:ext cx="199432" cy="449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47848" y="9409112"/>
            <a:ext cx="1240818" cy="241960"/>
          </a:xfrm>
          <a:custGeom>
            <a:avLst/>
            <a:gdLst/>
            <a:ahLst/>
            <a:cxnLst/>
            <a:rect l="l" t="t" r="r" b="b"/>
            <a:pathLst>
              <a:path w="1240818" h="241960">
                <a:moveTo>
                  <a:pt x="0" y="0"/>
                </a:moveTo>
                <a:lnTo>
                  <a:pt x="1240818" y="0"/>
                </a:lnTo>
                <a:lnTo>
                  <a:pt x="1240818" y="241960"/>
                </a:lnTo>
                <a:lnTo>
                  <a:pt x="0" y="241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546263" y="9502775"/>
            <a:ext cx="212175" cy="449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47848" y="9409112"/>
            <a:ext cx="1240818" cy="241960"/>
          </a:xfrm>
          <a:custGeom>
            <a:avLst/>
            <a:gdLst/>
            <a:ahLst/>
            <a:cxnLst/>
            <a:rect l="l" t="t" r="r" b="b"/>
            <a:pathLst>
              <a:path w="1240818" h="241960">
                <a:moveTo>
                  <a:pt x="0" y="0"/>
                </a:moveTo>
                <a:lnTo>
                  <a:pt x="1240818" y="0"/>
                </a:lnTo>
                <a:lnTo>
                  <a:pt x="1240818" y="241960"/>
                </a:lnTo>
                <a:lnTo>
                  <a:pt x="0" y="241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451690" y="9502775"/>
            <a:ext cx="401322" cy="449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47848" y="9409112"/>
            <a:ext cx="1240818" cy="241960"/>
          </a:xfrm>
          <a:custGeom>
            <a:avLst/>
            <a:gdLst/>
            <a:ahLst/>
            <a:cxnLst/>
            <a:rect l="l" t="t" r="r" b="b"/>
            <a:pathLst>
              <a:path w="1240818" h="241960">
                <a:moveTo>
                  <a:pt x="0" y="0"/>
                </a:moveTo>
                <a:lnTo>
                  <a:pt x="1240818" y="0"/>
                </a:lnTo>
                <a:lnTo>
                  <a:pt x="1240818" y="241960"/>
                </a:lnTo>
                <a:lnTo>
                  <a:pt x="0" y="241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476676" y="9502775"/>
            <a:ext cx="351350" cy="449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1226" y="-11940"/>
            <a:ext cx="18309226" cy="10298940"/>
          </a:xfrm>
          <a:custGeom>
            <a:avLst/>
            <a:gdLst/>
            <a:ahLst/>
            <a:cxnLst/>
            <a:rect l="l" t="t" r="r" b="b"/>
            <a:pathLst>
              <a:path w="18309226" h="10298940">
                <a:moveTo>
                  <a:pt x="0" y="0"/>
                </a:moveTo>
                <a:lnTo>
                  <a:pt x="18309226" y="0"/>
                </a:lnTo>
                <a:lnTo>
                  <a:pt x="18309226" y="10298940"/>
                </a:lnTo>
                <a:lnTo>
                  <a:pt x="0" y="10298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47848" y="9409112"/>
            <a:ext cx="1240818" cy="241960"/>
          </a:xfrm>
          <a:custGeom>
            <a:avLst/>
            <a:gdLst/>
            <a:ahLst/>
            <a:cxnLst/>
            <a:rect l="l" t="t" r="r" b="b"/>
            <a:pathLst>
              <a:path w="1240818" h="241960">
                <a:moveTo>
                  <a:pt x="0" y="0"/>
                </a:moveTo>
                <a:lnTo>
                  <a:pt x="1240818" y="0"/>
                </a:lnTo>
                <a:lnTo>
                  <a:pt x="1240818" y="241960"/>
                </a:lnTo>
                <a:lnTo>
                  <a:pt x="0" y="241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364801" y="9472942"/>
            <a:ext cx="356902" cy="449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28290" y="9317965"/>
            <a:ext cx="1240818" cy="241960"/>
          </a:xfrm>
          <a:custGeom>
            <a:avLst/>
            <a:gdLst/>
            <a:ahLst/>
            <a:cxnLst/>
            <a:rect l="l" t="t" r="r" b="b"/>
            <a:pathLst>
              <a:path w="1240818" h="241960">
                <a:moveTo>
                  <a:pt x="0" y="0"/>
                </a:moveTo>
                <a:lnTo>
                  <a:pt x="1240818" y="0"/>
                </a:lnTo>
                <a:lnTo>
                  <a:pt x="1240818" y="241960"/>
                </a:lnTo>
                <a:lnTo>
                  <a:pt x="0" y="241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468757" y="9502775"/>
            <a:ext cx="367188" cy="449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08291" y="9317965"/>
            <a:ext cx="1240818" cy="241960"/>
          </a:xfrm>
          <a:custGeom>
            <a:avLst/>
            <a:gdLst/>
            <a:ahLst/>
            <a:cxnLst/>
            <a:rect l="l" t="t" r="r" b="b"/>
            <a:pathLst>
              <a:path w="1240818" h="241960">
                <a:moveTo>
                  <a:pt x="0" y="0"/>
                </a:moveTo>
                <a:lnTo>
                  <a:pt x="1240818" y="0"/>
                </a:lnTo>
                <a:lnTo>
                  <a:pt x="1240818" y="241960"/>
                </a:lnTo>
                <a:lnTo>
                  <a:pt x="0" y="241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464661" y="9502775"/>
            <a:ext cx="375380" cy="449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225" y="0"/>
            <a:ext cx="18243300" cy="10261856"/>
          </a:xfrm>
          <a:custGeom>
            <a:avLst/>
            <a:gdLst/>
            <a:ahLst/>
            <a:cxnLst/>
            <a:rect l="l" t="t" r="r" b="b"/>
            <a:pathLst>
              <a:path w="18243300" h="10261856">
                <a:moveTo>
                  <a:pt x="0" y="0"/>
                </a:moveTo>
                <a:lnTo>
                  <a:pt x="18243300" y="0"/>
                </a:lnTo>
                <a:lnTo>
                  <a:pt x="18243300" y="10261856"/>
                </a:lnTo>
                <a:lnTo>
                  <a:pt x="0" y="10261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08291" y="9317965"/>
            <a:ext cx="1240818" cy="241960"/>
          </a:xfrm>
          <a:custGeom>
            <a:avLst/>
            <a:gdLst/>
            <a:ahLst/>
            <a:cxnLst/>
            <a:rect l="l" t="t" r="r" b="b"/>
            <a:pathLst>
              <a:path w="1240818" h="241960">
                <a:moveTo>
                  <a:pt x="0" y="0"/>
                </a:moveTo>
                <a:lnTo>
                  <a:pt x="1240818" y="0"/>
                </a:lnTo>
                <a:lnTo>
                  <a:pt x="1240818" y="241960"/>
                </a:lnTo>
                <a:lnTo>
                  <a:pt x="0" y="241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391543" y="9381795"/>
            <a:ext cx="370738" cy="449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Canva Sans 1"/>
                <a:ea typeface="Canva Sans 1"/>
                <a:cs typeface="Canva Sans 1"/>
                <a:sym typeface="Canva Sans 1"/>
              </a:rPr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47848" y="9409112"/>
            <a:ext cx="1240818" cy="241960"/>
          </a:xfrm>
          <a:custGeom>
            <a:avLst/>
            <a:gdLst/>
            <a:ahLst/>
            <a:cxnLst/>
            <a:rect l="l" t="t" r="r" b="b"/>
            <a:pathLst>
              <a:path w="1240818" h="241960">
                <a:moveTo>
                  <a:pt x="0" y="0"/>
                </a:moveTo>
                <a:lnTo>
                  <a:pt x="1240818" y="0"/>
                </a:lnTo>
                <a:lnTo>
                  <a:pt x="1240818" y="241960"/>
                </a:lnTo>
                <a:lnTo>
                  <a:pt x="0" y="241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396477" y="9472942"/>
            <a:ext cx="381843" cy="449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Canva Sans 1"/>
                <a:ea typeface="Canva Sans 1"/>
                <a:cs typeface="Canva Sans 1"/>
                <a:sym typeface="Canva Sans 1"/>
              </a:rPr>
              <a:t>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47848" y="9409112"/>
            <a:ext cx="1240818" cy="241960"/>
          </a:xfrm>
          <a:custGeom>
            <a:avLst/>
            <a:gdLst/>
            <a:ahLst/>
            <a:cxnLst/>
            <a:rect l="l" t="t" r="r" b="b"/>
            <a:pathLst>
              <a:path w="1240818" h="241960">
                <a:moveTo>
                  <a:pt x="0" y="0"/>
                </a:moveTo>
                <a:lnTo>
                  <a:pt x="1240818" y="0"/>
                </a:lnTo>
                <a:lnTo>
                  <a:pt x="1240818" y="241960"/>
                </a:lnTo>
                <a:lnTo>
                  <a:pt x="0" y="241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510797" y="9397554"/>
            <a:ext cx="326410" cy="449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47848" y="9409112"/>
            <a:ext cx="1240818" cy="241960"/>
          </a:xfrm>
          <a:custGeom>
            <a:avLst/>
            <a:gdLst/>
            <a:ahLst/>
            <a:cxnLst/>
            <a:rect l="l" t="t" r="r" b="b"/>
            <a:pathLst>
              <a:path w="1240818" h="241960">
                <a:moveTo>
                  <a:pt x="0" y="0"/>
                </a:moveTo>
                <a:lnTo>
                  <a:pt x="1240818" y="0"/>
                </a:lnTo>
                <a:lnTo>
                  <a:pt x="1240818" y="241960"/>
                </a:lnTo>
                <a:lnTo>
                  <a:pt x="0" y="241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443146" y="9472942"/>
            <a:ext cx="375107" cy="449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Canva Sans 1"/>
                <a:ea typeface="Canva Sans 1"/>
                <a:cs typeface="Canva Sans 1"/>
                <a:sym typeface="Canva Sans 1"/>
              </a:rPr>
              <a:t>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7067446" y="350620"/>
            <a:ext cx="984413" cy="1004922"/>
          </a:xfrm>
          <a:custGeom>
            <a:avLst/>
            <a:gdLst/>
            <a:ahLst/>
            <a:cxnLst/>
            <a:rect l="l" t="t" r="r" b="b"/>
            <a:pathLst>
              <a:path w="984413" h="1004922">
                <a:moveTo>
                  <a:pt x="0" y="0"/>
                </a:moveTo>
                <a:lnTo>
                  <a:pt x="984414" y="0"/>
                </a:lnTo>
                <a:lnTo>
                  <a:pt x="984414" y="1004922"/>
                </a:lnTo>
                <a:lnTo>
                  <a:pt x="0" y="1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307067" y="397736"/>
            <a:ext cx="15658995" cy="1676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 spc="-219">
                <a:solidFill>
                  <a:srgbClr val="222222"/>
                </a:solidFill>
                <a:latin typeface="Archivo Black"/>
                <a:ea typeface="Archivo Black"/>
                <a:cs typeface="Archivo Black"/>
                <a:sym typeface="Archivo Black"/>
              </a:rPr>
              <a:t>AI That Coordinates Recovery and</a:t>
            </a:r>
          </a:p>
          <a:p>
            <a:pPr algn="ctr">
              <a:lnSpc>
                <a:spcPts val="6601"/>
              </a:lnSpc>
            </a:pPr>
            <a:r>
              <a:rPr lang="en-US" sz="5499" spc="-220">
                <a:solidFill>
                  <a:srgbClr val="222222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Prevents the Next Stockout</a:t>
            </a:r>
          </a:p>
        </p:txBody>
      </p:sp>
      <p:sp>
        <p:nvSpPr>
          <p:cNvPr id="4" name="Freeform 4"/>
          <p:cNvSpPr/>
          <p:nvPr/>
        </p:nvSpPr>
        <p:spPr>
          <a:xfrm>
            <a:off x="426574" y="2776725"/>
            <a:ext cx="8509608" cy="5804885"/>
          </a:xfrm>
          <a:custGeom>
            <a:avLst/>
            <a:gdLst/>
            <a:ahLst/>
            <a:cxnLst/>
            <a:rect l="l" t="t" r="r" b="b"/>
            <a:pathLst>
              <a:path w="8509608" h="5804885">
                <a:moveTo>
                  <a:pt x="0" y="0"/>
                </a:moveTo>
                <a:lnTo>
                  <a:pt x="8509608" y="0"/>
                </a:lnTo>
                <a:lnTo>
                  <a:pt x="8509608" y="5804885"/>
                </a:lnTo>
                <a:lnTo>
                  <a:pt x="0" y="58048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351818" y="2776725"/>
            <a:ext cx="8509608" cy="5804885"/>
          </a:xfrm>
          <a:custGeom>
            <a:avLst/>
            <a:gdLst/>
            <a:ahLst/>
            <a:cxnLst/>
            <a:rect l="l" t="t" r="r" b="b"/>
            <a:pathLst>
              <a:path w="8509608" h="5804885">
                <a:moveTo>
                  <a:pt x="0" y="0"/>
                </a:moveTo>
                <a:lnTo>
                  <a:pt x="8509608" y="0"/>
                </a:lnTo>
                <a:lnTo>
                  <a:pt x="8509608" y="5804885"/>
                </a:lnTo>
                <a:lnTo>
                  <a:pt x="0" y="58048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006546" y="2226552"/>
            <a:ext cx="9800268" cy="787427"/>
          </a:xfrm>
          <a:custGeom>
            <a:avLst/>
            <a:gdLst/>
            <a:ahLst/>
            <a:cxnLst/>
            <a:rect l="l" t="t" r="r" b="b"/>
            <a:pathLst>
              <a:path w="9800268" h="787427">
                <a:moveTo>
                  <a:pt x="0" y="0"/>
                </a:moveTo>
                <a:lnTo>
                  <a:pt x="9800268" y="0"/>
                </a:lnTo>
                <a:lnTo>
                  <a:pt x="9800268" y="787427"/>
                </a:lnTo>
                <a:lnTo>
                  <a:pt x="0" y="7874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9677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8487732" y="2197821"/>
            <a:ext cx="1301598" cy="1157807"/>
            <a:chOff x="0" y="0"/>
            <a:chExt cx="1735464" cy="154374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35464" cy="1543742"/>
            </a:xfrm>
            <a:custGeom>
              <a:avLst/>
              <a:gdLst/>
              <a:ahLst/>
              <a:cxnLst/>
              <a:rect l="l" t="t" r="r" b="b"/>
              <a:pathLst>
                <a:path w="1735464" h="1543742">
                  <a:moveTo>
                    <a:pt x="0" y="0"/>
                  </a:moveTo>
                  <a:lnTo>
                    <a:pt x="1735464" y="0"/>
                  </a:lnTo>
                  <a:lnTo>
                    <a:pt x="1735464" y="1543742"/>
                  </a:lnTo>
                  <a:lnTo>
                    <a:pt x="0" y="15437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520639" y="173454"/>
              <a:ext cx="694186" cy="685144"/>
            </a:xfrm>
            <a:custGeom>
              <a:avLst/>
              <a:gdLst/>
              <a:ahLst/>
              <a:cxnLst/>
              <a:rect l="l" t="t" r="r" b="b"/>
              <a:pathLst>
                <a:path w="694186" h="685144">
                  <a:moveTo>
                    <a:pt x="0" y="0"/>
                  </a:moveTo>
                  <a:lnTo>
                    <a:pt x="694186" y="0"/>
                  </a:lnTo>
                  <a:lnTo>
                    <a:pt x="694186" y="685144"/>
                  </a:lnTo>
                  <a:lnTo>
                    <a:pt x="0" y="685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394357" y="858463"/>
              <a:ext cx="865423" cy="390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94"/>
                </a:lnSpc>
              </a:pPr>
              <a:r>
                <a:rPr lang="en-US" sz="794" b="1" spc="-23">
                  <a:solidFill>
                    <a:srgbClr val="FFFFFF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SUPPLYLINK</a:t>
              </a:r>
            </a:p>
            <a:p>
              <a:pPr algn="ctr">
                <a:lnSpc>
                  <a:spcPts val="794"/>
                </a:lnSpc>
              </a:pPr>
              <a:r>
                <a:rPr lang="en-US" sz="794" spc="-23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BY</a:t>
              </a:r>
            </a:p>
            <a:p>
              <a:pPr algn="ctr">
                <a:lnSpc>
                  <a:spcPts val="794"/>
                </a:lnSpc>
              </a:pPr>
              <a:r>
                <a:rPr lang="en-US" sz="794" spc="-23">
                  <a:solidFill>
                    <a:srgbClr val="FFFFFF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OCEANPRIDE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864086" y="3214004"/>
            <a:ext cx="885962" cy="644987"/>
          </a:xfrm>
          <a:custGeom>
            <a:avLst/>
            <a:gdLst/>
            <a:ahLst/>
            <a:cxnLst/>
            <a:rect l="l" t="t" r="r" b="b"/>
            <a:pathLst>
              <a:path w="885962" h="644987">
                <a:moveTo>
                  <a:pt x="0" y="0"/>
                </a:moveTo>
                <a:lnTo>
                  <a:pt x="885962" y="0"/>
                </a:lnTo>
                <a:lnTo>
                  <a:pt x="88596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55297" y="3301057"/>
            <a:ext cx="355454" cy="481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1"/>
              </a:lnSpc>
            </a:pPr>
            <a:r>
              <a:rPr lang="en-US" sz="3234" b="1" spc="-96">
                <a:solidFill>
                  <a:srgbClr val="F4F7F5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95059" y="3301057"/>
            <a:ext cx="4622974" cy="481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1"/>
              </a:lnSpc>
            </a:pPr>
            <a:r>
              <a:rPr lang="en-US" sz="3234" b="1" spc="-96">
                <a:solidFill>
                  <a:srgbClr val="0F3024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Recover the failed delivery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68927" y="4120146"/>
            <a:ext cx="5762623" cy="1135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0"/>
              </a:lnSpc>
            </a:pPr>
            <a:r>
              <a:rPr lang="en-US" sz="2171" b="1" spc="-86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When a delivery fails, SupplyLink finds a stock available branch and the nearest practical route. People confirm every step before the order moves.</a:t>
            </a:r>
          </a:p>
        </p:txBody>
      </p:sp>
      <p:sp>
        <p:nvSpPr>
          <p:cNvPr id="15" name="Freeform 15"/>
          <p:cNvSpPr/>
          <p:nvPr/>
        </p:nvSpPr>
        <p:spPr>
          <a:xfrm>
            <a:off x="864086" y="5564382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082842" y="5990729"/>
            <a:ext cx="1104718" cy="874559"/>
          </a:xfrm>
          <a:custGeom>
            <a:avLst/>
            <a:gdLst/>
            <a:ahLst/>
            <a:cxnLst/>
            <a:rect l="l" t="t" r="r" b="b"/>
            <a:pathLst>
              <a:path w="1104718" h="874559">
                <a:moveTo>
                  <a:pt x="0" y="0"/>
                </a:moveTo>
                <a:lnTo>
                  <a:pt x="1104718" y="0"/>
                </a:lnTo>
                <a:lnTo>
                  <a:pt x="1104718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2384440" y="6209369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118945" y="7388080"/>
            <a:ext cx="1025554" cy="68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</a:pPr>
            <a:r>
              <a:rPr lang="en-US" sz="2311" b="1" spc="-68">
                <a:solidFill>
                  <a:srgbClr val="0F3024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Delivery failure</a:t>
            </a:r>
          </a:p>
        </p:txBody>
      </p:sp>
      <p:sp>
        <p:nvSpPr>
          <p:cNvPr id="19" name="Freeform 19"/>
          <p:cNvSpPr/>
          <p:nvPr/>
        </p:nvSpPr>
        <p:spPr>
          <a:xfrm>
            <a:off x="2603196" y="5564382"/>
            <a:ext cx="1968804" cy="1727254"/>
          </a:xfrm>
          <a:custGeom>
            <a:avLst/>
            <a:gdLst/>
            <a:ahLst/>
            <a:cxnLst/>
            <a:rect l="l" t="t" r="r" b="b"/>
            <a:pathLst>
              <a:path w="1968804" h="1727254">
                <a:moveTo>
                  <a:pt x="0" y="0"/>
                </a:moveTo>
                <a:lnTo>
                  <a:pt x="1968804" y="0"/>
                </a:lnTo>
                <a:lnTo>
                  <a:pt x="1968804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3040708" y="5990729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4353244" y="6209369"/>
            <a:ext cx="656268" cy="437279"/>
          </a:xfrm>
          <a:custGeom>
            <a:avLst/>
            <a:gdLst/>
            <a:ahLst/>
            <a:cxnLst/>
            <a:rect l="l" t="t" r="r" b="b"/>
            <a:pathLst>
              <a:path w="656268" h="437279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2666199" y="7388080"/>
            <a:ext cx="1884040" cy="68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</a:pPr>
            <a:r>
              <a:rPr lang="en-US" sz="2311" b="1" spc="-68">
                <a:solidFill>
                  <a:srgbClr val="0F3024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Branch + route suggestion</a:t>
            </a:r>
          </a:p>
        </p:txBody>
      </p:sp>
      <p:sp>
        <p:nvSpPr>
          <p:cNvPr id="23" name="Freeform 23"/>
          <p:cNvSpPr/>
          <p:nvPr/>
        </p:nvSpPr>
        <p:spPr>
          <a:xfrm>
            <a:off x="4779818" y="5564382"/>
            <a:ext cx="1760986" cy="1727254"/>
          </a:xfrm>
          <a:custGeom>
            <a:avLst/>
            <a:gdLst/>
            <a:ahLst/>
            <a:cxnLst/>
            <a:rect l="l" t="t" r="r" b="b"/>
            <a:pathLst>
              <a:path w="1760986" h="1727254">
                <a:moveTo>
                  <a:pt x="0" y="0"/>
                </a:moveTo>
                <a:lnTo>
                  <a:pt x="1760986" y="0"/>
                </a:lnTo>
                <a:lnTo>
                  <a:pt x="1760986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4998574" y="5990729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6311110" y="6209369"/>
            <a:ext cx="656268" cy="437279"/>
          </a:xfrm>
          <a:custGeom>
            <a:avLst/>
            <a:gdLst/>
            <a:ahLst/>
            <a:cxnLst/>
            <a:rect l="l" t="t" r="r" b="b"/>
            <a:pathLst>
              <a:path w="656268" h="437279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4829126" y="7388080"/>
            <a:ext cx="1608156" cy="68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</a:pPr>
            <a:r>
              <a:rPr lang="en-US" sz="2311" b="1" spc="-68">
                <a:solidFill>
                  <a:srgbClr val="0F3024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Human confirmation</a:t>
            </a:r>
          </a:p>
        </p:txBody>
      </p:sp>
      <p:sp>
        <p:nvSpPr>
          <p:cNvPr id="27" name="Freeform 27"/>
          <p:cNvSpPr/>
          <p:nvPr/>
        </p:nvSpPr>
        <p:spPr>
          <a:xfrm>
            <a:off x="6748622" y="5564382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956440" y="5990729"/>
            <a:ext cx="1323474" cy="1082267"/>
          </a:xfrm>
          <a:custGeom>
            <a:avLst/>
            <a:gdLst/>
            <a:ahLst/>
            <a:cxnLst/>
            <a:rect l="l" t="t" r="r" b="b"/>
            <a:pathLst>
              <a:path w="1323474" h="1082267">
                <a:moveTo>
                  <a:pt x="0" y="0"/>
                </a:moveTo>
                <a:lnTo>
                  <a:pt x="1323474" y="0"/>
                </a:lnTo>
                <a:lnTo>
                  <a:pt x="132347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0008086" y="3214004"/>
            <a:ext cx="885962" cy="644987"/>
          </a:xfrm>
          <a:custGeom>
            <a:avLst/>
            <a:gdLst/>
            <a:ahLst/>
            <a:cxnLst/>
            <a:rect l="l" t="t" r="r" b="b"/>
            <a:pathLst>
              <a:path w="885962" h="644987">
                <a:moveTo>
                  <a:pt x="0" y="0"/>
                </a:moveTo>
                <a:lnTo>
                  <a:pt x="885962" y="0"/>
                </a:lnTo>
                <a:lnTo>
                  <a:pt x="88596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0364781" y="3301057"/>
            <a:ext cx="355454" cy="481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1"/>
              </a:lnSpc>
            </a:pPr>
            <a:r>
              <a:rPr lang="en-US" sz="3234" b="1" spc="-96">
                <a:solidFill>
                  <a:srgbClr val="0F302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909370" y="3301057"/>
            <a:ext cx="4735647" cy="481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1"/>
              </a:lnSpc>
            </a:pPr>
            <a:r>
              <a:rPr lang="en-US" sz="3234" b="1" spc="-96">
                <a:solidFill>
                  <a:srgbClr val="0F3024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Refill before stock runs low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801477" y="3931027"/>
            <a:ext cx="4809283" cy="1218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 spc="-96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SupplyLink warns HQ when a branch's backup stock is low and suggests what to refill.</a:t>
            </a:r>
          </a:p>
        </p:txBody>
      </p:sp>
      <p:sp>
        <p:nvSpPr>
          <p:cNvPr id="33" name="Freeform 33"/>
          <p:cNvSpPr/>
          <p:nvPr/>
        </p:nvSpPr>
        <p:spPr>
          <a:xfrm>
            <a:off x="9789330" y="5564382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0008086" y="5990729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1320622" y="6209369"/>
            <a:ext cx="437512" cy="437279"/>
          </a:xfrm>
          <a:custGeom>
            <a:avLst/>
            <a:gdLst/>
            <a:ahLst/>
            <a:cxnLst/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9823456" y="7388080"/>
            <a:ext cx="1503053" cy="68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</a:pPr>
            <a:r>
              <a:rPr lang="en-US" sz="2311" b="1" spc="-68">
                <a:solidFill>
                  <a:srgbClr val="0F3024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Low backup stock</a:t>
            </a:r>
          </a:p>
        </p:txBody>
      </p:sp>
      <p:sp>
        <p:nvSpPr>
          <p:cNvPr id="37" name="Freeform 37"/>
          <p:cNvSpPr/>
          <p:nvPr/>
        </p:nvSpPr>
        <p:spPr>
          <a:xfrm>
            <a:off x="11528440" y="5564382"/>
            <a:ext cx="1979742" cy="1727254"/>
          </a:xfrm>
          <a:custGeom>
            <a:avLst/>
            <a:gdLst/>
            <a:ahLst/>
            <a:cxnLst/>
            <a:rect l="l" t="t" r="r" b="b"/>
            <a:pathLst>
              <a:path w="1979742" h="1727254">
                <a:moveTo>
                  <a:pt x="0" y="0"/>
                </a:moveTo>
                <a:lnTo>
                  <a:pt x="1979742" y="0"/>
                </a:lnTo>
                <a:lnTo>
                  <a:pt x="1979742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1965952" y="5990729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3278488" y="6209369"/>
            <a:ext cx="656268" cy="437279"/>
          </a:xfrm>
          <a:custGeom>
            <a:avLst/>
            <a:gdLst/>
            <a:ahLst/>
            <a:cxnLst/>
            <a:rect l="l" t="t" r="r" b="b"/>
            <a:pathLst>
              <a:path w="656268" h="437279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40" name="TextBox 40"/>
          <p:cNvSpPr txBox="1"/>
          <p:nvPr/>
        </p:nvSpPr>
        <p:spPr>
          <a:xfrm>
            <a:off x="12273877" y="7388080"/>
            <a:ext cx="577707" cy="68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</a:pPr>
            <a:r>
              <a:rPr lang="en-US" sz="2311" b="1" spc="-68">
                <a:solidFill>
                  <a:srgbClr val="0F3024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HQ</a:t>
            </a:r>
          </a:p>
          <a:p>
            <a:pPr algn="ctr">
              <a:lnSpc>
                <a:spcPts val="2774"/>
              </a:lnSpc>
            </a:pPr>
            <a:r>
              <a:rPr lang="en-US" sz="2311" b="1" spc="-68">
                <a:solidFill>
                  <a:srgbClr val="0F3024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alert</a:t>
            </a:r>
          </a:p>
        </p:txBody>
      </p:sp>
      <p:sp>
        <p:nvSpPr>
          <p:cNvPr id="41" name="Freeform 41"/>
          <p:cNvSpPr/>
          <p:nvPr/>
        </p:nvSpPr>
        <p:spPr>
          <a:xfrm>
            <a:off x="13497244" y="5564382"/>
            <a:ext cx="1968804" cy="1727254"/>
          </a:xfrm>
          <a:custGeom>
            <a:avLst/>
            <a:gdLst/>
            <a:ahLst/>
            <a:cxnLst/>
            <a:rect l="l" t="t" r="r" b="b"/>
            <a:pathLst>
              <a:path w="1968804" h="1727254">
                <a:moveTo>
                  <a:pt x="0" y="0"/>
                </a:moveTo>
                <a:lnTo>
                  <a:pt x="1968804" y="0"/>
                </a:lnTo>
                <a:lnTo>
                  <a:pt x="1968804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14142574" y="5990729"/>
            <a:ext cx="885962" cy="1082267"/>
          </a:xfrm>
          <a:custGeom>
            <a:avLst/>
            <a:gdLst/>
            <a:ahLst/>
            <a:cxnLst/>
            <a:rect l="l" t="t" r="r" b="b"/>
            <a:pathLst>
              <a:path w="885962" h="1082267">
                <a:moveTo>
                  <a:pt x="0" y="0"/>
                </a:moveTo>
                <a:lnTo>
                  <a:pt x="885962" y="0"/>
                </a:lnTo>
                <a:lnTo>
                  <a:pt x="88596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15236354" y="6209369"/>
            <a:ext cx="667206" cy="437279"/>
          </a:xfrm>
          <a:custGeom>
            <a:avLst/>
            <a:gdLst/>
            <a:ahLst/>
            <a:cxnLst/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44" name="TextBox 44"/>
          <p:cNvSpPr txBox="1"/>
          <p:nvPr/>
        </p:nvSpPr>
        <p:spPr>
          <a:xfrm>
            <a:off x="13875103" y="7388080"/>
            <a:ext cx="1333607" cy="68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</a:pPr>
            <a:r>
              <a:rPr lang="en-US" sz="2311" b="1" spc="-68">
                <a:solidFill>
                  <a:srgbClr val="0F3024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AI refill suggestion</a:t>
            </a:r>
          </a:p>
        </p:txBody>
      </p:sp>
      <p:sp>
        <p:nvSpPr>
          <p:cNvPr id="45" name="Freeform 45"/>
          <p:cNvSpPr/>
          <p:nvPr/>
        </p:nvSpPr>
        <p:spPr>
          <a:xfrm>
            <a:off x="15455110" y="5564382"/>
            <a:ext cx="1968804" cy="1727254"/>
          </a:xfrm>
          <a:custGeom>
            <a:avLst/>
            <a:gdLst/>
            <a:ahLst/>
            <a:cxnLst/>
            <a:rect l="l" t="t" r="r" b="b"/>
            <a:pathLst>
              <a:path w="1968804" h="1727254">
                <a:moveTo>
                  <a:pt x="0" y="0"/>
                </a:moveTo>
                <a:lnTo>
                  <a:pt x="1968804" y="0"/>
                </a:lnTo>
                <a:lnTo>
                  <a:pt x="1968804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5892622" y="5990729"/>
            <a:ext cx="1312536" cy="1082267"/>
          </a:xfrm>
          <a:custGeom>
            <a:avLst/>
            <a:gdLst/>
            <a:ahLst/>
            <a:cxnLst/>
            <a:rect l="l" t="t" r="r" b="b"/>
            <a:pathLst>
              <a:path w="1312536" h="1082267">
                <a:moveTo>
                  <a:pt x="0" y="0"/>
                </a:moveTo>
                <a:lnTo>
                  <a:pt x="1312536" y="0"/>
                </a:lnTo>
                <a:lnTo>
                  <a:pt x="131253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4572000" y="8778386"/>
            <a:ext cx="9144000" cy="1300906"/>
          </a:xfrm>
          <a:custGeom>
            <a:avLst/>
            <a:gdLst/>
            <a:ahLst/>
            <a:cxnLst/>
            <a:rect l="l" t="t" r="r" b="b"/>
            <a:pathLst>
              <a:path w="9144000" h="1300906">
                <a:moveTo>
                  <a:pt x="0" y="0"/>
                </a:moveTo>
                <a:lnTo>
                  <a:pt x="9144000" y="0"/>
                </a:lnTo>
                <a:lnTo>
                  <a:pt x="914400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4998574" y="8997026"/>
            <a:ext cx="1104718" cy="863627"/>
          </a:xfrm>
          <a:custGeom>
            <a:avLst/>
            <a:gdLst/>
            <a:ahLst/>
            <a:cxnLst/>
            <a:rect l="l" t="t" r="r" b="b"/>
            <a:pathLst>
              <a:path w="1104718" h="863627">
                <a:moveTo>
                  <a:pt x="0" y="0"/>
                </a:moveTo>
                <a:lnTo>
                  <a:pt x="1104718" y="0"/>
                </a:lnTo>
                <a:lnTo>
                  <a:pt x="1104718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</p:sp>
      <p:sp>
        <p:nvSpPr>
          <p:cNvPr id="49" name="TextBox 49"/>
          <p:cNvSpPr txBox="1"/>
          <p:nvPr/>
        </p:nvSpPr>
        <p:spPr>
          <a:xfrm>
            <a:off x="6341670" y="9204906"/>
            <a:ext cx="6288674" cy="499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0"/>
              </a:lnSpc>
            </a:pPr>
            <a:r>
              <a:rPr lang="en-US" sz="3366" b="1" spc="-100">
                <a:solidFill>
                  <a:srgbClr val="0F3024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AI suggests. People stay in control.</a:t>
            </a:r>
          </a:p>
        </p:txBody>
      </p:sp>
      <p:sp>
        <p:nvSpPr>
          <p:cNvPr id="50" name="Freeform 50"/>
          <p:cNvSpPr/>
          <p:nvPr/>
        </p:nvSpPr>
        <p:spPr>
          <a:xfrm>
            <a:off x="17049643" y="397736"/>
            <a:ext cx="984413" cy="1004922"/>
          </a:xfrm>
          <a:custGeom>
            <a:avLst/>
            <a:gdLst/>
            <a:ahLst/>
            <a:cxnLst/>
            <a:rect l="l" t="t" r="r" b="b"/>
            <a:pathLst>
              <a:path w="984413" h="1004922">
                <a:moveTo>
                  <a:pt x="0" y="0"/>
                </a:moveTo>
                <a:lnTo>
                  <a:pt x="984414" y="0"/>
                </a:lnTo>
                <a:lnTo>
                  <a:pt x="984414" y="1004922"/>
                </a:lnTo>
                <a:lnTo>
                  <a:pt x="0" y="1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556040"/>
            <a:ext cx="15362724" cy="73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spc="-273">
                <a:solidFill>
                  <a:srgbClr val="111111"/>
                </a:solidFill>
                <a:latin typeface="Archivo Black"/>
                <a:ea typeface="Archivo Black"/>
                <a:cs typeface="Archivo Black"/>
                <a:sym typeface="Archivo Black"/>
              </a:rPr>
              <a:t>Target Buyers, Value &amp; Business Model</a:t>
            </a:r>
          </a:p>
        </p:txBody>
      </p:sp>
      <p:sp>
        <p:nvSpPr>
          <p:cNvPr id="3" name="Freeform 3"/>
          <p:cNvSpPr/>
          <p:nvPr/>
        </p:nvSpPr>
        <p:spPr>
          <a:xfrm>
            <a:off x="0" y="6209369"/>
            <a:ext cx="18288000" cy="229572"/>
          </a:xfrm>
          <a:custGeom>
            <a:avLst/>
            <a:gdLst/>
            <a:ahLst/>
            <a:cxnLst/>
            <a:rect l="l" t="t" r="r" b="b"/>
            <a:pathLst>
              <a:path w="18288000" h="229572">
                <a:moveTo>
                  <a:pt x="0" y="0"/>
                </a:moveTo>
                <a:lnTo>
                  <a:pt x="18288000" y="0"/>
                </a:lnTo>
                <a:lnTo>
                  <a:pt x="1828800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2443773"/>
            <a:ext cx="18288000" cy="4296271"/>
            <a:chOff x="0" y="0"/>
            <a:chExt cx="24384000" cy="5728361"/>
          </a:xfrm>
        </p:grpSpPr>
        <p:sp>
          <p:nvSpPr>
            <p:cNvPr id="5" name="Freeform 5"/>
            <p:cNvSpPr/>
            <p:nvPr/>
          </p:nvSpPr>
          <p:spPr>
            <a:xfrm>
              <a:off x="0" y="1151503"/>
              <a:ext cx="6387675" cy="4008395"/>
            </a:xfrm>
            <a:custGeom>
              <a:avLst/>
              <a:gdLst/>
              <a:ahLst/>
              <a:cxnLst/>
              <a:rect l="l" t="t" r="r" b="b"/>
              <a:pathLst>
                <a:path w="6387675" h="4008395">
                  <a:moveTo>
                    <a:pt x="0" y="0"/>
                  </a:moveTo>
                  <a:lnTo>
                    <a:pt x="6387675" y="0"/>
                  </a:lnTo>
                  <a:lnTo>
                    <a:pt x="6387675" y="4008395"/>
                  </a:lnTo>
                  <a:lnTo>
                    <a:pt x="0" y="4008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9440115" y="1151503"/>
              <a:ext cx="4943885" cy="4576859"/>
            </a:xfrm>
            <a:custGeom>
              <a:avLst/>
              <a:gdLst/>
              <a:ahLst/>
              <a:cxnLst/>
              <a:rect l="l" t="t" r="r" b="b"/>
              <a:pathLst>
                <a:path w="4943885" h="4576859">
                  <a:moveTo>
                    <a:pt x="0" y="0"/>
                  </a:moveTo>
                  <a:lnTo>
                    <a:pt x="4943885" y="0"/>
                  </a:lnTo>
                  <a:lnTo>
                    <a:pt x="4943885" y="4576858"/>
                  </a:lnTo>
                  <a:lnTo>
                    <a:pt x="0" y="4576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735464" y="859983"/>
              <a:ext cx="3791770" cy="4299915"/>
            </a:xfrm>
            <a:custGeom>
              <a:avLst/>
              <a:gdLst/>
              <a:ahLst/>
              <a:cxnLst/>
              <a:rect l="l" t="t" r="r" b="b"/>
              <a:pathLst>
                <a:path w="3791770" h="4299915">
                  <a:moveTo>
                    <a:pt x="0" y="0"/>
                  </a:moveTo>
                  <a:lnTo>
                    <a:pt x="3791770" y="0"/>
                  </a:lnTo>
                  <a:lnTo>
                    <a:pt x="3791770" y="4299915"/>
                  </a:lnTo>
                  <a:lnTo>
                    <a:pt x="0" y="4299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610488" y="1719966"/>
              <a:ext cx="2041722" cy="1734542"/>
            </a:xfrm>
            <a:custGeom>
              <a:avLst/>
              <a:gdLst/>
              <a:ahLst/>
              <a:cxnLst/>
              <a:rect l="l" t="t" r="r" b="b"/>
              <a:pathLst>
                <a:path w="2041722" h="1734542">
                  <a:moveTo>
                    <a:pt x="0" y="0"/>
                  </a:moveTo>
                  <a:lnTo>
                    <a:pt x="2041723" y="0"/>
                  </a:lnTo>
                  <a:lnTo>
                    <a:pt x="2041723" y="1734542"/>
                  </a:lnTo>
                  <a:lnTo>
                    <a:pt x="0" y="17345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6956440" y="0"/>
              <a:ext cx="3791770" cy="5728361"/>
            </a:xfrm>
            <a:custGeom>
              <a:avLst/>
              <a:gdLst/>
              <a:ahLst/>
              <a:cxnLst/>
              <a:rect l="l" t="t" r="r" b="b"/>
              <a:pathLst>
                <a:path w="3791770" h="5728361">
                  <a:moveTo>
                    <a:pt x="0" y="0"/>
                  </a:moveTo>
                  <a:lnTo>
                    <a:pt x="3791771" y="0"/>
                  </a:lnTo>
                  <a:lnTo>
                    <a:pt x="3791771" y="5728361"/>
                  </a:lnTo>
                  <a:lnTo>
                    <a:pt x="0" y="5728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7977196" y="450128"/>
              <a:ext cx="1869978" cy="345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16"/>
                </a:lnSpc>
              </a:pPr>
              <a:r>
                <a:rPr lang="en-US" sz="1916" b="1">
                  <a:solidFill>
                    <a:srgbClr val="113B2C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BRANCHES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7539789" y="1151503"/>
              <a:ext cx="1181282" cy="1151503"/>
            </a:xfrm>
            <a:custGeom>
              <a:avLst/>
              <a:gdLst/>
              <a:ahLst/>
              <a:cxnLst/>
              <a:rect l="l" t="t" r="r" b="b"/>
              <a:pathLst>
                <a:path w="1181282" h="1151503">
                  <a:moveTo>
                    <a:pt x="0" y="0"/>
                  </a:moveTo>
                  <a:lnTo>
                    <a:pt x="1181283" y="0"/>
                  </a:lnTo>
                  <a:lnTo>
                    <a:pt x="1181283" y="1151502"/>
                  </a:lnTo>
                  <a:lnTo>
                    <a:pt x="0" y="11515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7539789" y="2579949"/>
              <a:ext cx="1181282" cy="1151503"/>
            </a:xfrm>
            <a:custGeom>
              <a:avLst/>
              <a:gdLst/>
              <a:ahLst/>
              <a:cxnLst/>
              <a:rect l="l" t="t" r="r" b="b"/>
              <a:pathLst>
                <a:path w="1181282" h="1151503">
                  <a:moveTo>
                    <a:pt x="0" y="0"/>
                  </a:moveTo>
                  <a:lnTo>
                    <a:pt x="1181283" y="0"/>
                  </a:lnTo>
                  <a:lnTo>
                    <a:pt x="1181283" y="1151503"/>
                  </a:lnTo>
                  <a:lnTo>
                    <a:pt x="0" y="11515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7539789" y="4008395"/>
              <a:ext cx="1181282" cy="1151503"/>
            </a:xfrm>
            <a:custGeom>
              <a:avLst/>
              <a:gdLst/>
              <a:ahLst/>
              <a:cxnLst/>
              <a:rect l="l" t="t" r="r" b="b"/>
              <a:pathLst>
                <a:path w="1181282" h="1151503">
                  <a:moveTo>
                    <a:pt x="0" y="0"/>
                  </a:moveTo>
                  <a:lnTo>
                    <a:pt x="1181283" y="0"/>
                  </a:lnTo>
                  <a:lnTo>
                    <a:pt x="1181283" y="1151503"/>
                  </a:lnTo>
                  <a:lnTo>
                    <a:pt x="0" y="11515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5220976" y="1428446"/>
              <a:ext cx="2333397" cy="1443022"/>
            </a:xfrm>
            <a:custGeom>
              <a:avLst/>
              <a:gdLst/>
              <a:ahLst/>
              <a:cxnLst/>
              <a:rect l="l" t="t" r="r" b="b"/>
              <a:pathLst>
                <a:path w="2333397" h="1443022">
                  <a:moveTo>
                    <a:pt x="0" y="0"/>
                  </a:moveTo>
                  <a:lnTo>
                    <a:pt x="2333397" y="0"/>
                  </a:lnTo>
                  <a:lnTo>
                    <a:pt x="2333397" y="1443023"/>
                  </a:lnTo>
                  <a:lnTo>
                    <a:pt x="0" y="14430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5220976" y="2856893"/>
              <a:ext cx="2333397" cy="597615"/>
            </a:xfrm>
            <a:custGeom>
              <a:avLst/>
              <a:gdLst/>
              <a:ahLst/>
              <a:cxnLst/>
              <a:rect l="l" t="t" r="r" b="b"/>
              <a:pathLst>
                <a:path w="2333397" h="597615">
                  <a:moveTo>
                    <a:pt x="0" y="0"/>
                  </a:moveTo>
                  <a:lnTo>
                    <a:pt x="2333397" y="0"/>
                  </a:lnTo>
                  <a:lnTo>
                    <a:pt x="2333397" y="597615"/>
                  </a:lnTo>
                  <a:lnTo>
                    <a:pt x="0" y="597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5220976" y="3148412"/>
              <a:ext cx="2333397" cy="1734542"/>
            </a:xfrm>
            <a:custGeom>
              <a:avLst/>
              <a:gdLst/>
              <a:ahLst/>
              <a:cxnLst/>
              <a:rect l="l" t="t" r="r" b="b"/>
              <a:pathLst>
                <a:path w="2333397" h="1734542">
                  <a:moveTo>
                    <a:pt x="0" y="0"/>
                  </a:moveTo>
                  <a:lnTo>
                    <a:pt x="2333397" y="0"/>
                  </a:lnTo>
                  <a:lnTo>
                    <a:pt x="2333397" y="1734542"/>
                  </a:lnTo>
                  <a:lnTo>
                    <a:pt x="0" y="17345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10441952" y="1428446"/>
              <a:ext cx="2041722" cy="2026062"/>
            </a:xfrm>
            <a:custGeom>
              <a:avLst/>
              <a:gdLst/>
              <a:ahLst/>
              <a:cxnLst/>
              <a:rect l="l" t="t" r="r" b="b"/>
              <a:pathLst>
                <a:path w="2041722" h="2026062">
                  <a:moveTo>
                    <a:pt x="0" y="0"/>
                  </a:moveTo>
                  <a:lnTo>
                    <a:pt x="2041723" y="0"/>
                  </a:lnTo>
                  <a:lnTo>
                    <a:pt x="2041723" y="2026062"/>
                  </a:lnTo>
                  <a:lnTo>
                    <a:pt x="0" y="2026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10441952" y="2856893"/>
              <a:ext cx="2041722" cy="2026062"/>
            </a:xfrm>
            <a:custGeom>
              <a:avLst/>
              <a:gdLst/>
              <a:ahLst/>
              <a:cxnLst/>
              <a:rect l="l" t="t" r="r" b="b"/>
              <a:pathLst>
                <a:path w="2041722" h="2026062">
                  <a:moveTo>
                    <a:pt x="0" y="0"/>
                  </a:moveTo>
                  <a:lnTo>
                    <a:pt x="2041723" y="0"/>
                  </a:lnTo>
                  <a:lnTo>
                    <a:pt x="2041723" y="2026061"/>
                  </a:lnTo>
                  <a:lnTo>
                    <a:pt x="0" y="20260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12469091" y="1428446"/>
              <a:ext cx="2916746" cy="3162988"/>
            </a:xfrm>
            <a:custGeom>
              <a:avLst/>
              <a:gdLst/>
              <a:ahLst/>
              <a:cxnLst/>
              <a:rect l="l" t="t" r="r" b="b"/>
              <a:pathLst>
                <a:path w="2916746" h="3162988">
                  <a:moveTo>
                    <a:pt x="0" y="0"/>
                  </a:moveTo>
                  <a:lnTo>
                    <a:pt x="2916746" y="0"/>
                  </a:lnTo>
                  <a:lnTo>
                    <a:pt x="2916746" y="3162989"/>
                  </a:lnTo>
                  <a:lnTo>
                    <a:pt x="0" y="3162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13344115" y="2011486"/>
              <a:ext cx="889608" cy="1151503"/>
            </a:xfrm>
            <a:custGeom>
              <a:avLst/>
              <a:gdLst/>
              <a:ahLst/>
              <a:cxnLst/>
              <a:rect l="l" t="t" r="r" b="b"/>
              <a:pathLst>
                <a:path w="889608" h="1151503">
                  <a:moveTo>
                    <a:pt x="0" y="0"/>
                  </a:moveTo>
                  <a:lnTo>
                    <a:pt x="889607" y="0"/>
                  </a:lnTo>
                  <a:lnTo>
                    <a:pt x="889607" y="1151502"/>
                  </a:lnTo>
                  <a:lnTo>
                    <a:pt x="0" y="11515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12736595" y="3321729"/>
              <a:ext cx="2108829" cy="345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16"/>
                </a:lnSpc>
              </a:pPr>
              <a:r>
                <a:rPr lang="en-US" sz="1916" b="1">
                  <a:solidFill>
                    <a:srgbClr val="FFFFFF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SUPPLYLINK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15094163" y="1151503"/>
              <a:ext cx="3777187" cy="874559"/>
            </a:xfrm>
            <a:custGeom>
              <a:avLst/>
              <a:gdLst/>
              <a:ahLst/>
              <a:cxnLst/>
              <a:rect l="l" t="t" r="r" b="b"/>
              <a:pathLst>
                <a:path w="3777187" h="874559">
                  <a:moveTo>
                    <a:pt x="0" y="0"/>
                  </a:moveTo>
                  <a:lnTo>
                    <a:pt x="3777186" y="0"/>
                  </a:lnTo>
                  <a:lnTo>
                    <a:pt x="3777186" y="874559"/>
                  </a:lnTo>
                  <a:lnTo>
                    <a:pt x="0" y="874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15094163" y="2856893"/>
              <a:ext cx="3777187" cy="597615"/>
            </a:xfrm>
            <a:custGeom>
              <a:avLst/>
              <a:gdLst/>
              <a:ahLst/>
              <a:cxnLst/>
              <a:rect l="l" t="t" r="r" b="b"/>
              <a:pathLst>
                <a:path w="3777187" h="597615">
                  <a:moveTo>
                    <a:pt x="0" y="0"/>
                  </a:moveTo>
                  <a:lnTo>
                    <a:pt x="3777186" y="0"/>
                  </a:lnTo>
                  <a:lnTo>
                    <a:pt x="3777186" y="597615"/>
                  </a:lnTo>
                  <a:lnTo>
                    <a:pt x="0" y="597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>
              <a:off x="15094163" y="4285339"/>
              <a:ext cx="3777187" cy="597615"/>
            </a:xfrm>
            <a:custGeom>
              <a:avLst/>
              <a:gdLst/>
              <a:ahLst/>
              <a:cxnLst/>
              <a:rect l="l" t="t" r="r" b="b"/>
              <a:pathLst>
                <a:path w="3777187" h="597615">
                  <a:moveTo>
                    <a:pt x="0" y="0"/>
                  </a:moveTo>
                  <a:lnTo>
                    <a:pt x="3777186" y="0"/>
                  </a:lnTo>
                  <a:lnTo>
                    <a:pt x="3777186" y="597615"/>
                  </a:lnTo>
                  <a:lnTo>
                    <a:pt x="0" y="597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>
              <a:off x="18856766" y="859983"/>
              <a:ext cx="1764632" cy="1734542"/>
            </a:xfrm>
            <a:custGeom>
              <a:avLst/>
              <a:gdLst/>
              <a:ahLst/>
              <a:cxnLst/>
              <a:rect l="l" t="t" r="r" b="b"/>
              <a:pathLst>
                <a:path w="1764632" h="1734542">
                  <a:moveTo>
                    <a:pt x="0" y="0"/>
                  </a:moveTo>
                  <a:lnTo>
                    <a:pt x="1764631" y="0"/>
                  </a:lnTo>
                  <a:lnTo>
                    <a:pt x="1764631" y="1734542"/>
                  </a:lnTo>
                  <a:lnTo>
                    <a:pt x="0" y="17345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18346300" y="450128"/>
              <a:ext cx="2975930" cy="345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16"/>
                </a:lnSpc>
              </a:pPr>
              <a:r>
                <a:rPr lang="en-US" sz="1916" b="1">
                  <a:solidFill>
                    <a:srgbClr val="113B2C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SME CUSTOMERS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18856766" y="2288429"/>
              <a:ext cx="1764632" cy="1734542"/>
            </a:xfrm>
            <a:custGeom>
              <a:avLst/>
              <a:gdLst/>
              <a:ahLst/>
              <a:cxnLst/>
              <a:rect l="l" t="t" r="r" b="b"/>
              <a:pathLst>
                <a:path w="1764632" h="1734542">
                  <a:moveTo>
                    <a:pt x="0" y="0"/>
                  </a:moveTo>
                  <a:lnTo>
                    <a:pt x="1764631" y="0"/>
                  </a:lnTo>
                  <a:lnTo>
                    <a:pt x="1764631" y="1734542"/>
                  </a:lnTo>
                  <a:lnTo>
                    <a:pt x="0" y="17345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/>
              </a:stretch>
            </a:blipFill>
          </p:spPr>
        </p:sp>
        <p:sp>
          <p:nvSpPr>
            <p:cNvPr id="28" name="Freeform 28"/>
            <p:cNvSpPr/>
            <p:nvPr/>
          </p:nvSpPr>
          <p:spPr>
            <a:xfrm>
              <a:off x="18856766" y="4008395"/>
              <a:ext cx="1764632" cy="1719966"/>
            </a:xfrm>
            <a:custGeom>
              <a:avLst/>
              <a:gdLst/>
              <a:ahLst/>
              <a:cxnLst/>
              <a:rect l="l" t="t" r="r" b="b"/>
              <a:pathLst>
                <a:path w="1764632" h="1719966">
                  <a:moveTo>
                    <a:pt x="0" y="0"/>
                  </a:moveTo>
                  <a:lnTo>
                    <a:pt x="1764631" y="0"/>
                  </a:lnTo>
                  <a:lnTo>
                    <a:pt x="1764631" y="1719966"/>
                  </a:lnTo>
                  <a:lnTo>
                    <a:pt x="0" y="1719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2487944" y="3593637"/>
              <a:ext cx="2389319" cy="2974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17"/>
                </a:lnSpc>
              </a:pPr>
              <a:r>
                <a:rPr lang="en-US" sz="1617" b="1">
                  <a:solidFill>
                    <a:srgbClr val="113B2C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HEADQUARTERS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80557" y="1604128"/>
              <a:ext cx="1341149" cy="307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784" b="1">
                  <a:solidFill>
                    <a:srgbClr val="113B2C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BRANCH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80557" y="3009807"/>
              <a:ext cx="1341149" cy="307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784" b="1">
                  <a:solidFill>
                    <a:srgbClr val="113B2C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BRANCH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880557" y="4455648"/>
              <a:ext cx="1341149" cy="307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84"/>
                </a:lnSpc>
              </a:pPr>
              <a:r>
                <a:rPr lang="en-US" sz="1784" b="1">
                  <a:solidFill>
                    <a:srgbClr val="113B2C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BRANCH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064855" y="3602111"/>
              <a:ext cx="1452310" cy="409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25"/>
                </a:lnSpc>
              </a:pPr>
              <a:r>
                <a:rPr lang="en-US" sz="1125" spc="5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BY OCEANFRIDE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20098" y="7696951"/>
            <a:ext cx="14979928" cy="1378714"/>
            <a:chOff x="0" y="0"/>
            <a:chExt cx="19973238" cy="1838285"/>
          </a:xfrm>
        </p:grpSpPr>
        <p:sp>
          <p:nvSpPr>
            <p:cNvPr id="35" name="Freeform 35"/>
            <p:cNvSpPr/>
            <p:nvPr/>
          </p:nvSpPr>
          <p:spPr>
            <a:xfrm>
              <a:off x="0" y="103743"/>
              <a:ext cx="1472957" cy="1734542"/>
            </a:xfrm>
            <a:custGeom>
              <a:avLst/>
              <a:gdLst/>
              <a:ahLst/>
              <a:cxnLst/>
              <a:rect l="l" t="t" r="r" b="b"/>
              <a:pathLst>
                <a:path w="1472957" h="1734542">
                  <a:moveTo>
                    <a:pt x="0" y="0"/>
                  </a:moveTo>
                  <a:lnTo>
                    <a:pt x="1472957" y="0"/>
                  </a:lnTo>
                  <a:lnTo>
                    <a:pt x="1472957" y="1734542"/>
                  </a:lnTo>
                  <a:lnTo>
                    <a:pt x="0" y="17345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/>
              </a:stretch>
            </a:blipFill>
          </p:spPr>
        </p:sp>
        <p:sp>
          <p:nvSpPr>
            <p:cNvPr id="36" name="Freeform 36"/>
            <p:cNvSpPr/>
            <p:nvPr/>
          </p:nvSpPr>
          <p:spPr>
            <a:xfrm>
              <a:off x="1750048" y="522910"/>
              <a:ext cx="889608" cy="874559"/>
            </a:xfrm>
            <a:custGeom>
              <a:avLst/>
              <a:gdLst/>
              <a:ahLst/>
              <a:cxnLst/>
              <a:rect l="l" t="t" r="r" b="b"/>
              <a:pathLst>
                <a:path w="889608" h="874559">
                  <a:moveTo>
                    <a:pt x="0" y="0"/>
                  </a:moveTo>
                  <a:lnTo>
                    <a:pt x="889608" y="0"/>
                  </a:lnTo>
                  <a:lnTo>
                    <a:pt x="889608" y="874559"/>
                  </a:lnTo>
                  <a:lnTo>
                    <a:pt x="0" y="874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2665149" y="633009"/>
              <a:ext cx="2241655" cy="4695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3"/>
                </a:lnSpc>
              </a:pPr>
              <a:r>
                <a:rPr lang="en-US" sz="2623" b="1" spc="-130">
                  <a:solidFill>
                    <a:srgbClr val="111111"/>
                  </a:solidFill>
                  <a:latin typeface="Cerebri Medium"/>
                  <a:ea typeface="Cerebri Medium"/>
                  <a:cs typeface="Cerebri Medium"/>
                  <a:sym typeface="Cerebri Medium"/>
                </a:rPr>
                <a:t>Who it's for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5892085" y="0"/>
              <a:ext cx="1458373" cy="1734542"/>
            </a:xfrm>
            <a:custGeom>
              <a:avLst/>
              <a:gdLst/>
              <a:ahLst/>
              <a:cxnLst/>
              <a:rect l="l" t="t" r="r" b="b"/>
              <a:pathLst>
                <a:path w="1458373" h="1734542">
                  <a:moveTo>
                    <a:pt x="0" y="0"/>
                  </a:moveTo>
                  <a:lnTo>
                    <a:pt x="1458373" y="0"/>
                  </a:lnTo>
                  <a:lnTo>
                    <a:pt x="1458373" y="1734542"/>
                  </a:lnTo>
                  <a:lnTo>
                    <a:pt x="0" y="17345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/>
              </a:stretch>
            </a:blipFill>
          </p:spPr>
        </p:sp>
        <p:sp>
          <p:nvSpPr>
            <p:cNvPr id="39" name="Freeform 39"/>
            <p:cNvSpPr/>
            <p:nvPr/>
          </p:nvSpPr>
          <p:spPr>
            <a:xfrm>
              <a:off x="7335875" y="546197"/>
              <a:ext cx="889608" cy="874559"/>
            </a:xfrm>
            <a:custGeom>
              <a:avLst/>
              <a:gdLst/>
              <a:ahLst/>
              <a:cxnLst/>
              <a:rect l="l" t="t" r="r" b="b"/>
              <a:pathLst>
                <a:path w="889608" h="874559">
                  <a:moveTo>
                    <a:pt x="0" y="0"/>
                  </a:moveTo>
                  <a:lnTo>
                    <a:pt x="889607" y="0"/>
                  </a:lnTo>
                  <a:lnTo>
                    <a:pt x="889607" y="874559"/>
                  </a:lnTo>
                  <a:lnTo>
                    <a:pt x="0" y="874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8355070" y="656296"/>
              <a:ext cx="2826978" cy="4695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3"/>
                </a:lnSpc>
              </a:pPr>
              <a:r>
                <a:rPr lang="en-US" sz="2623" b="1" spc="-130">
                  <a:solidFill>
                    <a:srgbClr val="111111"/>
                  </a:solidFill>
                  <a:latin typeface="Cerebri Medium"/>
                  <a:ea typeface="Cerebri Medium"/>
                  <a:cs typeface="Cerebri Medium"/>
                  <a:sym typeface="Cerebri Medium"/>
                </a:rPr>
                <a:t>Why it matters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12167329" y="14813"/>
              <a:ext cx="1764632" cy="1734542"/>
            </a:xfrm>
            <a:custGeom>
              <a:avLst/>
              <a:gdLst/>
              <a:ahLst/>
              <a:cxnLst/>
              <a:rect l="l" t="t" r="r" b="b"/>
              <a:pathLst>
                <a:path w="1764632" h="1734542">
                  <a:moveTo>
                    <a:pt x="0" y="0"/>
                  </a:moveTo>
                  <a:lnTo>
                    <a:pt x="1764632" y="0"/>
                  </a:lnTo>
                  <a:lnTo>
                    <a:pt x="1764632" y="1734542"/>
                  </a:lnTo>
                  <a:lnTo>
                    <a:pt x="0" y="17345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/>
              </a:stretch>
            </a:blipFill>
          </p:spPr>
        </p:sp>
        <p:sp>
          <p:nvSpPr>
            <p:cNvPr id="42" name="Freeform 42"/>
            <p:cNvSpPr/>
            <p:nvPr/>
          </p:nvSpPr>
          <p:spPr>
            <a:xfrm>
              <a:off x="13686468" y="495605"/>
              <a:ext cx="875024" cy="874559"/>
            </a:xfrm>
            <a:custGeom>
              <a:avLst/>
              <a:gdLst/>
              <a:ahLst/>
              <a:cxnLst/>
              <a:rect l="l" t="t" r="r" b="b"/>
              <a:pathLst>
                <a:path w="875024" h="874559">
                  <a:moveTo>
                    <a:pt x="0" y="0"/>
                  </a:moveTo>
                  <a:lnTo>
                    <a:pt x="875024" y="0"/>
                  </a:lnTo>
                  <a:lnTo>
                    <a:pt x="875024" y="874559"/>
                  </a:lnTo>
                  <a:lnTo>
                    <a:pt x="0" y="874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14759384" y="605466"/>
              <a:ext cx="5213853" cy="4695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3"/>
                </a:lnSpc>
              </a:pPr>
              <a:r>
                <a:rPr lang="en-US" sz="2623" b="1" spc="-130">
                  <a:solidFill>
                    <a:srgbClr val="111111"/>
                  </a:solidFill>
                  <a:latin typeface="Cerebri Medium"/>
                  <a:ea typeface="Cerebri Medium"/>
                  <a:cs typeface="Cerebri Medium"/>
                  <a:sym typeface="Cerebri Medium"/>
                </a:rPr>
                <a:t>How it works commercially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13402" y="668996"/>
              <a:ext cx="260668" cy="4695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23"/>
                </a:lnSpc>
              </a:pPr>
              <a:r>
                <a:rPr lang="en-US" sz="2623" b="1" spc="-130">
                  <a:solidFill>
                    <a:srgbClr val="FFFFFF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4123980" y="618404"/>
              <a:ext cx="268103" cy="4695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23"/>
                </a:lnSpc>
              </a:pPr>
              <a:r>
                <a:rPr lang="en-US" sz="2623" b="1" spc="-130">
                  <a:solidFill>
                    <a:srgbClr val="FFFFFF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027010" y="671109"/>
              <a:ext cx="167841" cy="4695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23"/>
                </a:lnSpc>
              </a:pPr>
              <a:r>
                <a:rPr lang="en-US" sz="2623" b="1" spc="-130">
                  <a:solidFill>
                    <a:srgbClr val="FFFFFF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1</a:t>
              </a:r>
            </a:p>
          </p:txBody>
        </p:sp>
      </p:grpSp>
      <p:sp>
        <p:nvSpPr>
          <p:cNvPr id="47" name="Freeform 47"/>
          <p:cNvSpPr/>
          <p:nvPr/>
        </p:nvSpPr>
        <p:spPr>
          <a:xfrm>
            <a:off x="16892347" y="481944"/>
            <a:ext cx="984413" cy="1004922"/>
          </a:xfrm>
          <a:custGeom>
            <a:avLst/>
            <a:gdLst/>
            <a:ahLst/>
            <a:cxnLst/>
            <a:rect l="l" t="t" r="r" b="b"/>
            <a:pathLst>
              <a:path w="984413" h="1004922">
                <a:moveTo>
                  <a:pt x="0" y="0"/>
                </a:moveTo>
                <a:lnTo>
                  <a:pt x="984413" y="0"/>
                </a:lnTo>
                <a:lnTo>
                  <a:pt x="984413" y="1004922"/>
                </a:lnTo>
                <a:lnTo>
                  <a:pt x="0" y="1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493752" y="916403"/>
            <a:ext cx="17548146" cy="9870832"/>
          </a:xfrm>
          <a:custGeom>
            <a:avLst/>
            <a:gdLst/>
            <a:ahLst/>
            <a:cxnLst/>
            <a:rect l="l" t="t" r="r" b="b"/>
            <a:pathLst>
              <a:path w="17548146" h="9870832">
                <a:moveTo>
                  <a:pt x="0" y="0"/>
                </a:moveTo>
                <a:lnTo>
                  <a:pt x="17548146" y="0"/>
                </a:lnTo>
                <a:lnTo>
                  <a:pt x="17548146" y="9870831"/>
                </a:lnTo>
                <a:lnTo>
                  <a:pt x="0" y="9870831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6635716"/>
            <a:ext cx="3489158" cy="3651284"/>
          </a:xfrm>
          <a:custGeom>
            <a:avLst/>
            <a:gdLst/>
            <a:ahLst/>
            <a:cxnLst/>
            <a:rect l="l" t="t" r="r" b="b"/>
            <a:pathLst>
              <a:path w="3489158" h="3651284">
                <a:moveTo>
                  <a:pt x="0" y="0"/>
                </a:moveTo>
                <a:lnTo>
                  <a:pt x="3489158" y="0"/>
                </a:lnTo>
                <a:lnTo>
                  <a:pt x="3489158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892622" y="0"/>
            <a:ext cx="2395378" cy="2361309"/>
          </a:xfrm>
          <a:custGeom>
            <a:avLst/>
            <a:gdLst/>
            <a:ahLst/>
            <a:cxnLst/>
            <a:rect l="l" t="t" r="r" b="b"/>
            <a:pathLst>
              <a:path w="2395378" h="2361309">
                <a:moveTo>
                  <a:pt x="0" y="0"/>
                </a:moveTo>
                <a:lnTo>
                  <a:pt x="2395378" y="0"/>
                </a:lnTo>
                <a:lnTo>
                  <a:pt x="2395378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45330" y="634055"/>
            <a:ext cx="229694" cy="3017228"/>
          </a:xfrm>
          <a:custGeom>
            <a:avLst/>
            <a:gdLst/>
            <a:ahLst/>
            <a:cxnLst/>
            <a:rect l="l" t="t" r="r" b="b"/>
            <a:pathLst>
              <a:path w="229694" h="3017228">
                <a:moveTo>
                  <a:pt x="0" y="0"/>
                </a:moveTo>
                <a:lnTo>
                  <a:pt x="229694" y="0"/>
                </a:lnTo>
                <a:lnTo>
                  <a:pt x="229694" y="3017229"/>
                </a:lnTo>
                <a:lnTo>
                  <a:pt x="0" y="30172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93555" y="906207"/>
            <a:ext cx="15837468" cy="742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5599" b="1">
                <a:solidFill>
                  <a:srgbClr val="21292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 model that scales with your network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1495" y="2124916"/>
            <a:ext cx="11043500" cy="1584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5"/>
              </a:lnSpc>
            </a:pPr>
            <a:r>
              <a:rPr lang="en-US" sz="2899">
                <a:solidFill>
                  <a:srgbClr val="21292B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Our model would be a monthly subscription that grows with the number of branches a supplier connects, plus a one-time onboarding fee.</a:t>
            </a:r>
          </a:p>
        </p:txBody>
      </p:sp>
      <p:sp>
        <p:nvSpPr>
          <p:cNvPr id="8" name="Freeform 8"/>
          <p:cNvSpPr/>
          <p:nvPr/>
        </p:nvSpPr>
        <p:spPr>
          <a:xfrm>
            <a:off x="1082842" y="4919394"/>
            <a:ext cx="885962" cy="1082267"/>
          </a:xfrm>
          <a:custGeom>
            <a:avLst/>
            <a:gdLst/>
            <a:ahLst/>
            <a:cxnLst/>
            <a:rect l="l" t="t" r="r" b="b"/>
            <a:pathLst>
              <a:path w="885962" h="1082267">
                <a:moveTo>
                  <a:pt x="0" y="0"/>
                </a:moveTo>
                <a:lnTo>
                  <a:pt x="885962" y="0"/>
                </a:lnTo>
                <a:lnTo>
                  <a:pt x="88596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01598" y="5138034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163955" y="5176692"/>
            <a:ext cx="3274858" cy="433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487" b="1">
                <a:solidFill>
                  <a:srgbClr val="164037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Monthly subscription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82842" y="5990729"/>
            <a:ext cx="885962" cy="1082267"/>
          </a:xfrm>
          <a:custGeom>
            <a:avLst/>
            <a:gdLst/>
            <a:ahLst/>
            <a:cxnLst/>
            <a:rect l="l" t="t" r="r" b="b"/>
            <a:pathLst>
              <a:path w="885962" h="1082267">
                <a:moveTo>
                  <a:pt x="0" y="0"/>
                </a:moveTo>
                <a:lnTo>
                  <a:pt x="885962" y="0"/>
                </a:lnTo>
                <a:lnTo>
                  <a:pt x="88596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01598" y="6209369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157083" y="6306255"/>
            <a:ext cx="3961964" cy="433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487" b="1">
                <a:solidFill>
                  <a:srgbClr val="C9882A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One-time onboarding fee</a:t>
            </a:r>
          </a:p>
        </p:txBody>
      </p:sp>
      <p:sp>
        <p:nvSpPr>
          <p:cNvPr id="14" name="Freeform 14"/>
          <p:cNvSpPr/>
          <p:nvPr/>
        </p:nvSpPr>
        <p:spPr>
          <a:xfrm>
            <a:off x="6092354" y="5564382"/>
            <a:ext cx="1531292" cy="1508614"/>
          </a:xfrm>
          <a:custGeom>
            <a:avLst/>
            <a:gdLst/>
            <a:ahLst/>
            <a:cxnLst/>
            <a:rect l="l" t="t" r="r" b="b"/>
            <a:pathLst>
              <a:path w="1531292" h="1508614">
                <a:moveTo>
                  <a:pt x="0" y="0"/>
                </a:moveTo>
                <a:lnTo>
                  <a:pt x="1531292" y="0"/>
                </a:lnTo>
                <a:lnTo>
                  <a:pt x="153129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6311110" y="5564382"/>
            <a:ext cx="1093780" cy="1300906"/>
          </a:xfrm>
          <a:custGeom>
            <a:avLst/>
            <a:gdLst/>
            <a:ahLst/>
            <a:cxnLst/>
            <a:rect l="l" t="t" r="r" b="b"/>
            <a:pathLst>
              <a:path w="1093780" h="1300906">
                <a:moveTo>
                  <a:pt x="0" y="0"/>
                </a:moveTo>
                <a:lnTo>
                  <a:pt x="1093780" y="0"/>
                </a:lnTo>
                <a:lnTo>
                  <a:pt x="109378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6529866" y="5783021"/>
            <a:ext cx="656268" cy="863627"/>
          </a:xfrm>
          <a:custGeom>
            <a:avLst/>
            <a:gdLst/>
            <a:ahLst/>
            <a:cxnLst/>
            <a:rect l="l" t="t" r="r" b="b"/>
            <a:pathLst>
              <a:path w="656268" h="863627">
                <a:moveTo>
                  <a:pt x="0" y="0"/>
                </a:moveTo>
                <a:lnTo>
                  <a:pt x="656268" y="0"/>
                </a:lnTo>
                <a:lnTo>
                  <a:pt x="65626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175196" y="6209369"/>
            <a:ext cx="1323474" cy="229572"/>
          </a:xfrm>
          <a:custGeom>
            <a:avLst/>
            <a:gdLst/>
            <a:ahLst/>
            <a:cxnLst/>
            <a:rect l="l" t="t" r="r" b="b"/>
            <a:pathLst>
              <a:path w="1323474" h="229572">
                <a:moveTo>
                  <a:pt x="0" y="0"/>
                </a:moveTo>
                <a:lnTo>
                  <a:pt x="1323474" y="0"/>
                </a:lnTo>
                <a:lnTo>
                  <a:pt x="132347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8268976" y="4919394"/>
            <a:ext cx="3062584" cy="3017228"/>
          </a:xfrm>
          <a:custGeom>
            <a:avLst/>
            <a:gdLst/>
            <a:ahLst/>
            <a:cxnLst/>
            <a:rect l="l" t="t" r="r" b="b"/>
            <a:pathLst>
              <a:path w="3062584" h="3017228">
                <a:moveTo>
                  <a:pt x="0" y="0"/>
                </a:moveTo>
                <a:lnTo>
                  <a:pt x="3062584" y="0"/>
                </a:lnTo>
                <a:lnTo>
                  <a:pt x="3062584" y="3017229"/>
                </a:lnTo>
                <a:lnTo>
                  <a:pt x="0" y="301722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8925244" y="5138034"/>
            <a:ext cx="1312536" cy="1508614"/>
          </a:xfrm>
          <a:custGeom>
            <a:avLst/>
            <a:gdLst/>
            <a:ahLst/>
            <a:cxnLst/>
            <a:rect l="l" t="t" r="r" b="b"/>
            <a:pathLst>
              <a:path w="1312536" h="1508614">
                <a:moveTo>
                  <a:pt x="0" y="0"/>
                </a:moveTo>
                <a:lnTo>
                  <a:pt x="1312536" y="0"/>
                </a:lnTo>
                <a:lnTo>
                  <a:pt x="131253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8818541" y="6618882"/>
            <a:ext cx="1587285" cy="354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9"/>
              </a:lnSpc>
            </a:pPr>
            <a:r>
              <a:rPr lang="en-US" sz="1335" b="1" spc="33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SUPPLIER HEADQUARTERS</a:t>
            </a:r>
          </a:p>
        </p:txBody>
      </p:sp>
      <p:sp>
        <p:nvSpPr>
          <p:cNvPr id="21" name="Freeform 21"/>
          <p:cNvSpPr/>
          <p:nvPr/>
        </p:nvSpPr>
        <p:spPr>
          <a:xfrm>
            <a:off x="10226842" y="2776725"/>
            <a:ext cx="6978316" cy="6231233"/>
          </a:xfrm>
          <a:custGeom>
            <a:avLst/>
            <a:gdLst/>
            <a:ahLst/>
            <a:cxnLst/>
            <a:rect l="l" t="t" r="r" b="b"/>
            <a:pathLst>
              <a:path w="6978316" h="6231233">
                <a:moveTo>
                  <a:pt x="0" y="0"/>
                </a:moveTo>
                <a:lnTo>
                  <a:pt x="6978316" y="0"/>
                </a:lnTo>
                <a:lnTo>
                  <a:pt x="6978316" y="6231232"/>
                </a:lnTo>
                <a:lnTo>
                  <a:pt x="0" y="623123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1528440" y="3848060"/>
            <a:ext cx="1104718" cy="1300906"/>
          </a:xfrm>
          <a:custGeom>
            <a:avLst/>
            <a:gdLst/>
            <a:ahLst/>
            <a:cxnLst/>
            <a:rect l="l" t="t" r="r" b="b"/>
            <a:pathLst>
              <a:path w="1104718" h="1300906">
                <a:moveTo>
                  <a:pt x="0" y="0"/>
                </a:moveTo>
                <a:lnTo>
                  <a:pt x="1104718" y="0"/>
                </a:lnTo>
                <a:lnTo>
                  <a:pt x="110471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1747196" y="3848060"/>
            <a:ext cx="667206" cy="874559"/>
          </a:xfrm>
          <a:custGeom>
            <a:avLst/>
            <a:gdLst/>
            <a:ahLst/>
            <a:cxnLst/>
            <a:rect l="l" t="t" r="r" b="b"/>
            <a:pathLst>
              <a:path w="667206" h="874559">
                <a:moveTo>
                  <a:pt x="0" y="0"/>
                </a:moveTo>
                <a:lnTo>
                  <a:pt x="667206" y="0"/>
                </a:lnTo>
                <a:lnTo>
                  <a:pt x="667206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1747196" y="4066699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1965952" y="4919394"/>
            <a:ext cx="1323474" cy="1082267"/>
          </a:xfrm>
          <a:custGeom>
            <a:avLst/>
            <a:gdLst/>
            <a:ahLst/>
            <a:cxnLst/>
            <a:rect l="l" t="t" r="r" b="b"/>
            <a:pathLst>
              <a:path w="1323474" h="1082267">
                <a:moveTo>
                  <a:pt x="0" y="0"/>
                </a:moveTo>
                <a:lnTo>
                  <a:pt x="1323474" y="0"/>
                </a:lnTo>
                <a:lnTo>
                  <a:pt x="132347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2403464" y="5138034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1965952" y="5990729"/>
            <a:ext cx="1323474" cy="1082267"/>
          </a:xfrm>
          <a:custGeom>
            <a:avLst/>
            <a:gdLst/>
            <a:ahLst/>
            <a:cxnLst/>
            <a:rect l="l" t="t" r="r" b="b"/>
            <a:pathLst>
              <a:path w="1323474" h="1082267">
                <a:moveTo>
                  <a:pt x="0" y="0"/>
                </a:moveTo>
                <a:lnTo>
                  <a:pt x="1323474" y="0"/>
                </a:lnTo>
                <a:lnTo>
                  <a:pt x="132347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2403464" y="6209369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1747196" y="7280704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1965952" y="7499343"/>
            <a:ext cx="667206" cy="437279"/>
          </a:xfrm>
          <a:custGeom>
            <a:avLst/>
            <a:gdLst/>
            <a:ahLst/>
            <a:cxnLst/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3716000" y="3214004"/>
            <a:ext cx="1093780" cy="1082267"/>
          </a:xfrm>
          <a:custGeom>
            <a:avLst/>
            <a:gdLst/>
            <a:ahLst/>
            <a:cxnLst/>
            <a:rect l="l" t="t" r="r" b="b"/>
            <a:pathLst>
              <a:path w="1093780" h="1082267">
                <a:moveTo>
                  <a:pt x="0" y="0"/>
                </a:moveTo>
                <a:lnTo>
                  <a:pt x="1093780" y="0"/>
                </a:lnTo>
                <a:lnTo>
                  <a:pt x="109378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3923818" y="3421712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4142574" y="4066699"/>
            <a:ext cx="1104718" cy="1300906"/>
          </a:xfrm>
          <a:custGeom>
            <a:avLst/>
            <a:gdLst/>
            <a:ahLst/>
            <a:cxnLst/>
            <a:rect l="l" t="t" r="r" b="b"/>
            <a:pathLst>
              <a:path w="1104718" h="1300906">
                <a:moveTo>
                  <a:pt x="0" y="0"/>
                </a:moveTo>
                <a:lnTo>
                  <a:pt x="1104718" y="0"/>
                </a:lnTo>
                <a:lnTo>
                  <a:pt x="1104718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4361330" y="4285339"/>
            <a:ext cx="667206" cy="644987"/>
          </a:xfrm>
          <a:custGeom>
            <a:avLst/>
            <a:gdLst/>
            <a:ahLst/>
            <a:cxnLst/>
            <a:rect l="l" t="t" r="r" b="b"/>
            <a:pathLst>
              <a:path w="667206" h="644987">
                <a:moveTo>
                  <a:pt x="0" y="0"/>
                </a:moveTo>
                <a:lnTo>
                  <a:pt x="667206" y="0"/>
                </a:lnTo>
                <a:lnTo>
                  <a:pt x="667206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4361330" y="5138034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4580086" y="5356674"/>
            <a:ext cx="667206" cy="437279"/>
          </a:xfrm>
          <a:custGeom>
            <a:avLst/>
            <a:gdLst/>
            <a:ahLst/>
            <a:cxnLst/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4361330" y="6209369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4580086" y="6209369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4142574" y="7062064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4361330" y="7280704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3716000" y="8133399"/>
            <a:ext cx="1093780" cy="1082267"/>
          </a:xfrm>
          <a:custGeom>
            <a:avLst/>
            <a:gdLst/>
            <a:ahLst/>
            <a:cxnLst/>
            <a:rect l="l" t="t" r="r" b="b"/>
            <a:pathLst>
              <a:path w="1093780" h="1082267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13923818" y="8133399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16100440" y="8352038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16319196" y="8570678"/>
            <a:ext cx="667206" cy="644987"/>
          </a:xfrm>
          <a:custGeom>
            <a:avLst/>
            <a:gdLst/>
            <a:ahLst/>
            <a:cxnLst/>
            <a:rect l="l" t="t" r="r" b="b"/>
            <a:pathLst>
              <a:path w="667206" h="644987">
                <a:moveTo>
                  <a:pt x="0" y="0"/>
                </a:moveTo>
                <a:lnTo>
                  <a:pt x="667206" y="0"/>
                </a:lnTo>
                <a:lnTo>
                  <a:pt x="667206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16537952" y="7280704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6756708" y="7280704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16756708" y="5990729"/>
            <a:ext cx="1104718" cy="1300906"/>
          </a:xfrm>
          <a:custGeom>
            <a:avLst/>
            <a:gdLst/>
            <a:ahLst/>
            <a:cxnLst/>
            <a:rect l="l" t="t" r="r" b="b"/>
            <a:pathLst>
              <a:path w="1104718" h="1300906">
                <a:moveTo>
                  <a:pt x="0" y="0"/>
                </a:moveTo>
                <a:lnTo>
                  <a:pt x="1104718" y="0"/>
                </a:lnTo>
                <a:lnTo>
                  <a:pt x="110471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16975464" y="6209369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16537952" y="4919394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16756708" y="4919394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16319196" y="3640352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16537952" y="3640352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15455110" y="2350377"/>
            <a:ext cx="1312536" cy="1082267"/>
          </a:xfrm>
          <a:custGeom>
            <a:avLst/>
            <a:gdLst/>
            <a:ahLst/>
            <a:cxnLst/>
            <a:rect l="l" t="t" r="r" b="b"/>
            <a:pathLst>
              <a:path w="1312536" h="1082267">
                <a:moveTo>
                  <a:pt x="0" y="0"/>
                </a:moveTo>
                <a:lnTo>
                  <a:pt x="1312536" y="0"/>
                </a:lnTo>
                <a:lnTo>
                  <a:pt x="131253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15892622" y="2569017"/>
            <a:ext cx="437512" cy="655919"/>
          </a:xfrm>
          <a:custGeom>
            <a:avLst/>
            <a:gdLst/>
            <a:ahLst/>
            <a:cxnLst/>
            <a:rect l="l" t="t" r="r" b="b"/>
            <a:pathLst>
              <a:path w="437512" h="655919">
                <a:moveTo>
                  <a:pt x="0" y="0"/>
                </a:moveTo>
                <a:lnTo>
                  <a:pt x="437512" y="0"/>
                </a:lnTo>
                <a:lnTo>
                  <a:pt x="43751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>
              <a:fillRect/>
            </a:stretch>
          </a:blipFill>
        </p:spPr>
      </p:sp>
      <p:sp>
        <p:nvSpPr>
          <p:cNvPr id="55" name="Freeform 55"/>
          <p:cNvSpPr/>
          <p:nvPr/>
        </p:nvSpPr>
        <p:spPr>
          <a:xfrm>
            <a:off x="1520354" y="9204733"/>
            <a:ext cx="3051646" cy="229572"/>
          </a:xfrm>
          <a:custGeom>
            <a:avLst/>
            <a:gdLst/>
            <a:ahLst/>
            <a:cxnLst/>
            <a:rect l="l" t="t" r="r" b="b"/>
            <a:pathLst>
              <a:path w="3051646" h="229572">
                <a:moveTo>
                  <a:pt x="0" y="0"/>
                </a:moveTo>
                <a:lnTo>
                  <a:pt x="3051646" y="0"/>
                </a:lnTo>
                <a:lnTo>
                  <a:pt x="305164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>
              <a:fillRect/>
            </a:stretch>
          </a:blipFill>
        </p:spPr>
      </p:sp>
      <p:sp>
        <p:nvSpPr>
          <p:cNvPr id="56" name="TextBox 56"/>
          <p:cNvSpPr txBox="1"/>
          <p:nvPr/>
        </p:nvSpPr>
        <p:spPr>
          <a:xfrm>
            <a:off x="4607539" y="9122633"/>
            <a:ext cx="8877719" cy="433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7"/>
              </a:lnSpc>
            </a:pPr>
            <a:r>
              <a:rPr lang="en-US" sz="2487" b="1" spc="61">
                <a:solidFill>
                  <a:srgbClr val="164037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More connected branches. More operational coverage.</a:t>
            </a:r>
          </a:p>
        </p:txBody>
      </p:sp>
      <p:sp>
        <p:nvSpPr>
          <p:cNvPr id="57" name="Freeform 57"/>
          <p:cNvSpPr/>
          <p:nvPr/>
        </p:nvSpPr>
        <p:spPr>
          <a:xfrm>
            <a:off x="13716000" y="9204733"/>
            <a:ext cx="3051646" cy="229572"/>
          </a:xfrm>
          <a:custGeom>
            <a:avLst/>
            <a:gdLst/>
            <a:ahLst/>
            <a:cxnLst/>
            <a:rect l="l" t="t" r="r" b="b"/>
            <a:pathLst>
              <a:path w="3051646" h="229572">
                <a:moveTo>
                  <a:pt x="0" y="0"/>
                </a:moveTo>
                <a:lnTo>
                  <a:pt x="3051646" y="0"/>
                </a:lnTo>
                <a:lnTo>
                  <a:pt x="305164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>
              <a:fillRect/>
            </a:stretch>
          </a:blipFill>
        </p:spPr>
      </p:sp>
      <p:sp>
        <p:nvSpPr>
          <p:cNvPr id="58" name="Freeform 58"/>
          <p:cNvSpPr/>
          <p:nvPr/>
        </p:nvSpPr>
        <p:spPr>
          <a:xfrm>
            <a:off x="16892347" y="481944"/>
            <a:ext cx="984413" cy="1004922"/>
          </a:xfrm>
          <a:custGeom>
            <a:avLst/>
            <a:gdLst/>
            <a:ahLst/>
            <a:cxnLst/>
            <a:rect l="l" t="t" r="r" b="b"/>
            <a:pathLst>
              <a:path w="984413" h="1004922">
                <a:moveTo>
                  <a:pt x="0" y="0"/>
                </a:moveTo>
                <a:lnTo>
                  <a:pt x="984413" y="0"/>
                </a:lnTo>
                <a:lnTo>
                  <a:pt x="984413" y="1004922"/>
                </a:lnTo>
                <a:lnTo>
                  <a:pt x="0" y="1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>
              <a:fillRect/>
            </a:stretch>
          </a:blipFill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706488" y="426348"/>
            <a:ext cx="8279914" cy="7936623"/>
          </a:xfrm>
          <a:custGeom>
            <a:avLst/>
            <a:gdLst/>
            <a:ahLst/>
            <a:cxnLst/>
            <a:rect l="l" t="t" r="r" b="b"/>
            <a:pathLst>
              <a:path w="8279914" h="7936623">
                <a:moveTo>
                  <a:pt x="0" y="0"/>
                </a:moveTo>
                <a:lnTo>
                  <a:pt x="8279914" y="0"/>
                </a:lnTo>
                <a:lnTo>
                  <a:pt x="8279914" y="7936622"/>
                </a:lnTo>
                <a:lnTo>
                  <a:pt x="0" y="7936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449744" y="6211211"/>
            <a:ext cx="10838256" cy="4075789"/>
          </a:xfrm>
          <a:custGeom>
            <a:avLst/>
            <a:gdLst/>
            <a:ahLst/>
            <a:cxnLst/>
            <a:rect l="l" t="t" r="r" b="b"/>
            <a:pathLst>
              <a:path w="10838256" h="4075789">
                <a:moveTo>
                  <a:pt x="0" y="0"/>
                </a:moveTo>
                <a:lnTo>
                  <a:pt x="10838256" y="0"/>
                </a:lnTo>
                <a:lnTo>
                  <a:pt x="10838256" y="4075789"/>
                </a:lnTo>
                <a:lnTo>
                  <a:pt x="0" y="4075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97703" y="339255"/>
            <a:ext cx="10867018" cy="2308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44"/>
              </a:lnSpc>
            </a:pPr>
            <a:r>
              <a:rPr lang="en-US" sz="5499" spc="-49">
                <a:solidFill>
                  <a:srgbClr val="113227"/>
                </a:solidFill>
                <a:latin typeface="Archivo Black"/>
                <a:ea typeface="Archivo Black"/>
                <a:cs typeface="Archivo Black"/>
                <a:sym typeface="Archivo Black"/>
              </a:rPr>
              <a:t>SUPPLY LINK by </a:t>
            </a:r>
          </a:p>
          <a:p>
            <a:pPr algn="l">
              <a:lnSpc>
                <a:spcPts val="6047"/>
              </a:lnSpc>
            </a:pPr>
            <a:r>
              <a:rPr lang="en-US" sz="5499" spc="-49">
                <a:solidFill>
                  <a:srgbClr val="113227"/>
                </a:solidFill>
                <a:latin typeface="Archivo Black"/>
                <a:ea typeface="Archivo Black"/>
                <a:cs typeface="Archivo Black"/>
                <a:sym typeface="Archivo Black"/>
              </a:rPr>
              <a:t>Oceanpride</a:t>
            </a:r>
          </a:p>
          <a:p>
            <a:pPr algn="l">
              <a:lnSpc>
                <a:spcPts val="6044"/>
              </a:lnSpc>
            </a:pPr>
            <a:endParaRPr lang="en-US" sz="5499" spc="-49">
              <a:solidFill>
                <a:srgbClr val="113227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645330" y="2107880"/>
            <a:ext cx="1542230" cy="229572"/>
          </a:xfrm>
          <a:custGeom>
            <a:avLst/>
            <a:gdLst/>
            <a:ahLst/>
            <a:cxnLst/>
            <a:rect l="l" t="t" r="r" b="b"/>
            <a:pathLst>
              <a:path w="1542230" h="229572">
                <a:moveTo>
                  <a:pt x="0" y="0"/>
                </a:moveTo>
                <a:lnTo>
                  <a:pt x="1542230" y="0"/>
                </a:lnTo>
                <a:lnTo>
                  <a:pt x="154223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97703" y="2572053"/>
            <a:ext cx="7004140" cy="459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3"/>
              </a:lnSpc>
            </a:pPr>
            <a:r>
              <a:rPr lang="en-US" sz="3304" b="1">
                <a:solidFill>
                  <a:srgbClr val="113227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This is a working prototype on test data.</a:t>
            </a:r>
          </a:p>
        </p:txBody>
      </p:sp>
      <p:sp>
        <p:nvSpPr>
          <p:cNvPr id="8" name="Freeform 8"/>
          <p:cNvSpPr/>
          <p:nvPr/>
        </p:nvSpPr>
        <p:spPr>
          <a:xfrm>
            <a:off x="597703" y="3203072"/>
            <a:ext cx="7634584" cy="218640"/>
          </a:xfrm>
          <a:custGeom>
            <a:avLst/>
            <a:gdLst/>
            <a:ahLst/>
            <a:cxnLst/>
            <a:rect l="l" t="t" r="r" b="b"/>
            <a:pathLst>
              <a:path w="7634584" h="218640">
                <a:moveTo>
                  <a:pt x="0" y="0"/>
                </a:moveTo>
                <a:lnTo>
                  <a:pt x="7634584" y="0"/>
                </a:lnTo>
                <a:lnTo>
                  <a:pt x="763458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45330" y="5069509"/>
            <a:ext cx="9581070" cy="1682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7"/>
              </a:lnSpc>
            </a:pPr>
            <a:r>
              <a:rPr lang="en-US" sz="6100" b="1">
                <a:solidFill>
                  <a:srgbClr val="113227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When deliveries fail,</a:t>
            </a:r>
          </a:p>
          <a:p>
            <a:pPr algn="l">
              <a:lnSpc>
                <a:spcPts val="6707"/>
              </a:lnSpc>
            </a:pPr>
            <a:r>
              <a:rPr lang="en-US" sz="6100" b="1">
                <a:solidFill>
                  <a:srgbClr val="113227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customer trust shouldn’t have to.</a:t>
            </a:r>
          </a:p>
        </p:txBody>
      </p:sp>
      <p:sp>
        <p:nvSpPr>
          <p:cNvPr id="10" name="Freeform 10"/>
          <p:cNvSpPr/>
          <p:nvPr/>
        </p:nvSpPr>
        <p:spPr>
          <a:xfrm>
            <a:off x="597703" y="8362970"/>
            <a:ext cx="5457962" cy="1082267"/>
          </a:xfrm>
          <a:custGeom>
            <a:avLst/>
            <a:gdLst/>
            <a:ahLst/>
            <a:cxnLst/>
            <a:rect l="l" t="t" r="r" b="b"/>
            <a:pathLst>
              <a:path w="5457962" h="1082267">
                <a:moveTo>
                  <a:pt x="0" y="0"/>
                </a:moveTo>
                <a:lnTo>
                  <a:pt x="5457962" y="0"/>
                </a:lnTo>
                <a:lnTo>
                  <a:pt x="545796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42458" y="8747291"/>
            <a:ext cx="4768453" cy="332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2387" b="1" spc="-23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Schedule a pilot discussion</a:t>
            </a:r>
          </a:p>
        </p:txBody>
      </p:sp>
      <p:sp>
        <p:nvSpPr>
          <p:cNvPr id="12" name="Freeform 12"/>
          <p:cNvSpPr/>
          <p:nvPr/>
        </p:nvSpPr>
        <p:spPr>
          <a:xfrm>
            <a:off x="10008086" y="2142670"/>
            <a:ext cx="1750048" cy="1289974"/>
          </a:xfrm>
          <a:custGeom>
            <a:avLst/>
            <a:gdLst/>
            <a:ahLst/>
            <a:cxnLst/>
            <a:rect l="l" t="t" r="r" b="b"/>
            <a:pathLst>
              <a:path w="1750048" h="1289974">
                <a:moveTo>
                  <a:pt x="0" y="0"/>
                </a:moveTo>
                <a:lnTo>
                  <a:pt x="1750048" y="0"/>
                </a:lnTo>
                <a:lnTo>
                  <a:pt x="1750048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622220" y="2142670"/>
            <a:ext cx="1312536" cy="1289974"/>
          </a:xfrm>
          <a:custGeom>
            <a:avLst/>
            <a:gdLst/>
            <a:ahLst/>
            <a:cxnLst/>
            <a:rect l="l" t="t" r="r" b="b"/>
            <a:pathLst>
              <a:path w="1312536" h="1289974">
                <a:moveTo>
                  <a:pt x="0" y="0"/>
                </a:moveTo>
                <a:lnTo>
                  <a:pt x="1312536" y="0"/>
                </a:lnTo>
                <a:lnTo>
                  <a:pt x="131253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664354" y="3848060"/>
            <a:ext cx="2625072" cy="229572"/>
          </a:xfrm>
          <a:custGeom>
            <a:avLst/>
            <a:gdLst/>
            <a:ahLst/>
            <a:cxnLst/>
            <a:rect l="l" t="t" r="r" b="b"/>
            <a:pathLst>
              <a:path w="2625072" h="229572">
                <a:moveTo>
                  <a:pt x="0" y="0"/>
                </a:moveTo>
                <a:lnTo>
                  <a:pt x="2625072" y="0"/>
                </a:lnTo>
                <a:lnTo>
                  <a:pt x="262507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4580086" y="3848060"/>
            <a:ext cx="885962" cy="229572"/>
          </a:xfrm>
          <a:custGeom>
            <a:avLst/>
            <a:gdLst/>
            <a:ahLst/>
            <a:cxnLst/>
            <a:rect l="l" t="t" r="r" b="b"/>
            <a:pathLst>
              <a:path w="885962" h="229572">
                <a:moveTo>
                  <a:pt x="0" y="0"/>
                </a:moveTo>
                <a:lnTo>
                  <a:pt x="885962" y="0"/>
                </a:lnTo>
                <a:lnTo>
                  <a:pt x="88596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1528440" y="852695"/>
            <a:ext cx="1323474" cy="1508614"/>
          </a:xfrm>
          <a:custGeom>
            <a:avLst/>
            <a:gdLst/>
            <a:ahLst/>
            <a:cxnLst/>
            <a:rect l="l" t="t" r="r" b="b"/>
            <a:pathLst>
              <a:path w="1323474" h="1508614">
                <a:moveTo>
                  <a:pt x="0" y="0"/>
                </a:moveTo>
                <a:lnTo>
                  <a:pt x="1323474" y="0"/>
                </a:lnTo>
                <a:lnTo>
                  <a:pt x="132347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1747196" y="1071335"/>
            <a:ext cx="885962" cy="863627"/>
          </a:xfrm>
          <a:custGeom>
            <a:avLst/>
            <a:gdLst/>
            <a:ahLst/>
            <a:cxnLst/>
            <a:rect l="l" t="t" r="r" b="b"/>
            <a:pathLst>
              <a:path w="885962" h="863627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9570574" y="3214004"/>
            <a:ext cx="1323474" cy="1289974"/>
          </a:xfrm>
          <a:custGeom>
            <a:avLst/>
            <a:gdLst/>
            <a:ahLst/>
            <a:cxnLst/>
            <a:rect l="l" t="t" r="r" b="b"/>
            <a:pathLst>
              <a:path w="1323474" h="1289974">
                <a:moveTo>
                  <a:pt x="0" y="0"/>
                </a:moveTo>
                <a:lnTo>
                  <a:pt x="1323474" y="0"/>
                </a:lnTo>
                <a:lnTo>
                  <a:pt x="1323474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9789330" y="3421712"/>
            <a:ext cx="885962" cy="874559"/>
          </a:xfrm>
          <a:custGeom>
            <a:avLst/>
            <a:gdLst/>
            <a:ahLst/>
            <a:cxnLst/>
            <a:rect l="l" t="t" r="r" b="b"/>
            <a:pathLst>
              <a:path w="885962" h="874559">
                <a:moveTo>
                  <a:pt x="0" y="0"/>
                </a:moveTo>
                <a:lnTo>
                  <a:pt x="885962" y="0"/>
                </a:lnTo>
                <a:lnTo>
                  <a:pt x="88596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3278488" y="3214004"/>
            <a:ext cx="1312536" cy="1289974"/>
          </a:xfrm>
          <a:custGeom>
            <a:avLst/>
            <a:gdLst/>
            <a:ahLst/>
            <a:cxnLst/>
            <a:rect l="l" t="t" r="r" b="b"/>
            <a:pathLst>
              <a:path w="1312536" h="1289974">
                <a:moveTo>
                  <a:pt x="0" y="0"/>
                </a:moveTo>
                <a:lnTo>
                  <a:pt x="1312536" y="0"/>
                </a:lnTo>
                <a:lnTo>
                  <a:pt x="1312536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3497244" y="3421712"/>
            <a:ext cx="875024" cy="874559"/>
          </a:xfrm>
          <a:custGeom>
            <a:avLst/>
            <a:gdLst/>
            <a:ahLst/>
            <a:cxnLst/>
            <a:rect l="l" t="t" r="r" b="b"/>
            <a:pathLst>
              <a:path w="875024" h="874559">
                <a:moveTo>
                  <a:pt x="0" y="0"/>
                </a:moveTo>
                <a:lnTo>
                  <a:pt x="875024" y="0"/>
                </a:lnTo>
                <a:lnTo>
                  <a:pt x="87502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5455110" y="2776725"/>
            <a:ext cx="1531292" cy="1519546"/>
          </a:xfrm>
          <a:custGeom>
            <a:avLst/>
            <a:gdLst/>
            <a:ahLst/>
            <a:cxnLst/>
            <a:rect l="l" t="t" r="r" b="b"/>
            <a:pathLst>
              <a:path w="1531292" h="1519546">
                <a:moveTo>
                  <a:pt x="0" y="0"/>
                </a:moveTo>
                <a:lnTo>
                  <a:pt x="1531292" y="0"/>
                </a:lnTo>
                <a:lnTo>
                  <a:pt x="1531292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5673866" y="3214004"/>
            <a:ext cx="1093780" cy="863627"/>
          </a:xfrm>
          <a:custGeom>
            <a:avLst/>
            <a:gdLst/>
            <a:ahLst/>
            <a:cxnLst/>
            <a:rect l="l" t="t" r="r" b="b"/>
            <a:pathLst>
              <a:path w="1093780" h="863627">
                <a:moveTo>
                  <a:pt x="0" y="0"/>
                </a:moveTo>
                <a:lnTo>
                  <a:pt x="1093780" y="0"/>
                </a:lnTo>
                <a:lnTo>
                  <a:pt x="109378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0226842" y="4711687"/>
            <a:ext cx="5676718" cy="1289974"/>
          </a:xfrm>
          <a:custGeom>
            <a:avLst/>
            <a:gdLst/>
            <a:ahLst/>
            <a:cxnLst/>
            <a:rect l="l" t="t" r="r" b="b"/>
            <a:pathLst>
              <a:path w="5676718" h="1289974">
                <a:moveTo>
                  <a:pt x="0" y="0"/>
                </a:moveTo>
                <a:lnTo>
                  <a:pt x="5676718" y="0"/>
                </a:lnTo>
                <a:lnTo>
                  <a:pt x="5676718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1747196" y="5356674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1965952" y="5564382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0745796" y="6453051"/>
            <a:ext cx="3060584" cy="21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</a:pPr>
            <a:r>
              <a:rPr lang="en-US" sz="1617" b="1" spc="-15">
                <a:solidFill>
                  <a:srgbClr val="3045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RECOVERED DELIVERY ROUTE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367291" y="4419837"/>
            <a:ext cx="1653930" cy="21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</a:pPr>
            <a:r>
              <a:rPr lang="en-US" sz="1617" b="1" spc="-15">
                <a:solidFill>
                  <a:srgbClr val="3045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SME CUSTOMER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712640" y="4615628"/>
            <a:ext cx="900117" cy="21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</a:pPr>
            <a:r>
              <a:rPr lang="en-US" sz="1617" b="1" spc="-15">
                <a:solidFill>
                  <a:srgbClr val="3045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BRANCH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436320" y="4615628"/>
            <a:ext cx="900117" cy="21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</a:pPr>
            <a:r>
              <a:rPr lang="en-US" sz="1617" b="1" spc="-15">
                <a:solidFill>
                  <a:srgbClr val="3045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BRANCH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021124" y="2356502"/>
            <a:ext cx="332048" cy="21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</a:pPr>
            <a:r>
              <a:rPr lang="en-US" sz="1617" b="1" spc="-15">
                <a:solidFill>
                  <a:srgbClr val="30454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HQ</a:t>
            </a:r>
          </a:p>
        </p:txBody>
      </p:sp>
      <p:sp>
        <p:nvSpPr>
          <p:cNvPr id="32" name="Freeform 32"/>
          <p:cNvSpPr/>
          <p:nvPr/>
        </p:nvSpPr>
        <p:spPr>
          <a:xfrm>
            <a:off x="16892347" y="481944"/>
            <a:ext cx="984413" cy="1004922"/>
          </a:xfrm>
          <a:custGeom>
            <a:avLst/>
            <a:gdLst/>
            <a:ahLst/>
            <a:cxnLst/>
            <a:rect l="l" t="t" r="r" b="b"/>
            <a:pathLst>
              <a:path w="984413" h="1004922">
                <a:moveTo>
                  <a:pt x="0" y="0"/>
                </a:moveTo>
                <a:lnTo>
                  <a:pt x="984413" y="0"/>
                </a:lnTo>
                <a:lnTo>
                  <a:pt x="984413" y="1004922"/>
                </a:lnTo>
                <a:lnTo>
                  <a:pt x="0" y="1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31446" y="6178029"/>
            <a:ext cx="8086400" cy="231579"/>
          </a:xfrm>
          <a:custGeom>
            <a:avLst/>
            <a:gdLst/>
            <a:ahLst/>
            <a:cxnLst/>
            <a:rect l="l" t="t" r="r" b="b"/>
            <a:pathLst>
              <a:path w="8086400" h="231579">
                <a:moveTo>
                  <a:pt x="0" y="0"/>
                </a:moveTo>
                <a:lnTo>
                  <a:pt x="8086400" y="0"/>
                </a:lnTo>
                <a:lnTo>
                  <a:pt x="8086400" y="231579"/>
                </a:lnTo>
                <a:lnTo>
                  <a:pt x="0" y="2315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892347" y="481944"/>
            <a:ext cx="984413" cy="1004922"/>
          </a:xfrm>
          <a:custGeom>
            <a:avLst/>
            <a:gdLst/>
            <a:ahLst/>
            <a:cxnLst/>
            <a:rect l="l" t="t" r="r" b="b"/>
            <a:pathLst>
              <a:path w="984413" h="1004922">
                <a:moveTo>
                  <a:pt x="0" y="0"/>
                </a:moveTo>
                <a:lnTo>
                  <a:pt x="984413" y="0"/>
                </a:lnTo>
                <a:lnTo>
                  <a:pt x="984413" y="1004922"/>
                </a:lnTo>
                <a:lnTo>
                  <a:pt x="0" y="10049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200821" y="5711578"/>
            <a:ext cx="4741370" cy="4575422"/>
          </a:xfrm>
          <a:custGeom>
            <a:avLst/>
            <a:gdLst/>
            <a:ahLst/>
            <a:cxnLst/>
            <a:rect l="l" t="t" r="r" b="b"/>
            <a:pathLst>
              <a:path w="4741370" h="4575422">
                <a:moveTo>
                  <a:pt x="0" y="0"/>
                </a:moveTo>
                <a:lnTo>
                  <a:pt x="4741370" y="0"/>
                </a:lnTo>
                <a:lnTo>
                  <a:pt x="4741370" y="4575422"/>
                </a:lnTo>
                <a:lnTo>
                  <a:pt x="0" y="45754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684351" y="1922655"/>
            <a:ext cx="2887155" cy="2454082"/>
          </a:xfrm>
          <a:custGeom>
            <a:avLst/>
            <a:gdLst/>
            <a:ahLst/>
            <a:cxnLst/>
            <a:rect l="l" t="t" r="r" b="b"/>
            <a:pathLst>
              <a:path w="2887155" h="2454082">
                <a:moveTo>
                  <a:pt x="0" y="0"/>
                </a:moveTo>
                <a:lnTo>
                  <a:pt x="2887155" y="0"/>
                </a:lnTo>
                <a:lnTo>
                  <a:pt x="2887155" y="2454082"/>
                </a:lnTo>
                <a:lnTo>
                  <a:pt x="0" y="24540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15895" y="6925842"/>
            <a:ext cx="1807655" cy="2332458"/>
          </a:xfrm>
          <a:custGeom>
            <a:avLst/>
            <a:gdLst/>
            <a:ahLst/>
            <a:cxnLst/>
            <a:rect l="l" t="t" r="r" b="b"/>
            <a:pathLst>
              <a:path w="1807655" h="2332458">
                <a:moveTo>
                  <a:pt x="0" y="0"/>
                </a:moveTo>
                <a:lnTo>
                  <a:pt x="1807655" y="0"/>
                </a:lnTo>
                <a:lnTo>
                  <a:pt x="1807655" y="2332458"/>
                </a:lnTo>
                <a:lnTo>
                  <a:pt x="0" y="23324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869604" y="7436297"/>
            <a:ext cx="1907857" cy="1822003"/>
          </a:xfrm>
          <a:custGeom>
            <a:avLst/>
            <a:gdLst/>
            <a:ahLst/>
            <a:cxnLst/>
            <a:rect l="l" t="t" r="r" b="b"/>
            <a:pathLst>
              <a:path w="1907857" h="1822003">
                <a:moveTo>
                  <a:pt x="0" y="0"/>
                </a:moveTo>
                <a:lnTo>
                  <a:pt x="1907857" y="0"/>
                </a:lnTo>
                <a:lnTo>
                  <a:pt x="1907857" y="1822003"/>
                </a:lnTo>
                <a:lnTo>
                  <a:pt x="0" y="18220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54048" y="-284834"/>
            <a:ext cx="6022496" cy="3312373"/>
          </a:xfrm>
          <a:custGeom>
            <a:avLst/>
            <a:gdLst/>
            <a:ahLst/>
            <a:cxnLst/>
            <a:rect l="l" t="t" r="r" b="b"/>
            <a:pathLst>
              <a:path w="6022496" h="3312373">
                <a:moveTo>
                  <a:pt x="0" y="0"/>
                </a:moveTo>
                <a:lnTo>
                  <a:pt x="6022496" y="0"/>
                </a:lnTo>
                <a:lnTo>
                  <a:pt x="6022496" y="3312372"/>
                </a:lnTo>
                <a:lnTo>
                  <a:pt x="0" y="331237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178325" y="-1174242"/>
            <a:ext cx="6022496" cy="3312373"/>
          </a:xfrm>
          <a:custGeom>
            <a:avLst/>
            <a:gdLst/>
            <a:ahLst/>
            <a:cxnLst/>
            <a:rect l="l" t="t" r="r" b="b"/>
            <a:pathLst>
              <a:path w="6022496" h="3312373">
                <a:moveTo>
                  <a:pt x="0" y="0"/>
                </a:moveTo>
                <a:lnTo>
                  <a:pt x="6022496" y="0"/>
                </a:lnTo>
                <a:lnTo>
                  <a:pt x="6022496" y="3312372"/>
                </a:lnTo>
                <a:lnTo>
                  <a:pt x="0" y="331237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823532" y="3856213"/>
            <a:ext cx="7860819" cy="180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23"/>
              </a:lnSpc>
            </a:pPr>
            <a:r>
              <a:rPr lang="en-US" sz="10587">
                <a:solidFill>
                  <a:srgbClr val="000000"/>
                </a:solidFill>
                <a:latin typeface="Playwrite US Trad"/>
                <a:ea typeface="Playwrite US Trad"/>
                <a:cs typeface="Playwrite US Trad"/>
                <a:sym typeface="Playwrite US Tra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447</Words>
  <Application>Microsoft Office PowerPoint</Application>
  <PresentationFormat>Custom</PresentationFormat>
  <Paragraphs>130</Paragraphs>
  <Slides>27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26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54" baseType="lpstr">
      <vt:lpstr>HK Grotesk Medium</vt:lpstr>
      <vt:lpstr>Lato</vt:lpstr>
      <vt:lpstr>Red Hat Display</vt:lpstr>
      <vt:lpstr>Inter Semi-Bold</vt:lpstr>
      <vt:lpstr>Canva Sans 1 Bold</vt:lpstr>
      <vt:lpstr>Red Hat Display Bold</vt:lpstr>
      <vt:lpstr>Lato Bold</vt:lpstr>
      <vt:lpstr>Inter</vt:lpstr>
      <vt:lpstr>Arial</vt:lpstr>
      <vt:lpstr>HK Grotesk Semi-Bold</vt:lpstr>
      <vt:lpstr>Barlow Condensed Bold</vt:lpstr>
      <vt:lpstr>Noto Sans Bold</vt:lpstr>
      <vt:lpstr>HK Grotesk</vt:lpstr>
      <vt:lpstr>Calibri</vt:lpstr>
      <vt:lpstr>Canva Sans 2 Bold</vt:lpstr>
      <vt:lpstr>Canva Sans 1</vt:lpstr>
      <vt:lpstr>Archivo Black</vt:lpstr>
      <vt:lpstr>HK Grotesk Bold</vt:lpstr>
      <vt:lpstr>Cerebri Medium</vt:lpstr>
      <vt:lpstr>Playwrite US Trad</vt:lpstr>
      <vt:lpstr>Kingsman</vt:lpstr>
      <vt:lpstr>Lato Heavy</vt:lpstr>
      <vt:lpstr>Barlow SemiCondensed Bold</vt:lpstr>
      <vt:lpstr>Neue Montreal Bold</vt:lpstr>
      <vt:lpstr>Marelle</vt:lpstr>
      <vt:lpstr>Helvetica Now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Delivery Reroute System Pitch Deck</dc:title>
  <cp:lastModifiedBy>mikel aung</cp:lastModifiedBy>
  <cp:revision>2</cp:revision>
  <dcterms:created xsi:type="dcterms:W3CDTF">2006-08-16T00:00:00Z</dcterms:created>
  <dcterms:modified xsi:type="dcterms:W3CDTF">2026-10-23T17:12:22Z</dcterms:modified>
  <dc:identifier>DAHY2Qm4sd4</dc:identifier>
</cp:coreProperties>
</file>